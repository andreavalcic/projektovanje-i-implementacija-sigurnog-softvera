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4"/>
    <p:restoredTop sz="72603"/>
  </p:normalViewPr>
  <p:slideViewPr>
    <p:cSldViewPr snapToGrid="0">
      <p:cViewPr>
        <p:scale>
          <a:sx n="100" d="100"/>
          <a:sy n="100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6AC68-E449-5E49-861F-DE07525DDEB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EC29E-8CFF-4448-99C4-07B3E615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0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5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obezbeđuje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dostupni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ovlašćenim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poverljive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organizacije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garantuje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isključivo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predviđen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ovlašćen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funkcioniše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neovlašćenih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nenamernih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modifikacija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osigurava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pravovremen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ovlašćenim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prekida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27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5BE2-82D3-2B7D-462E-D625C547A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0B03A-3EF7-B3DB-C6CC-717F1B474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198D0-0546-4E3B-199D-744E3F539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okruženjima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moguće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potpunosti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verovati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učesnicima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komunikacionim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kanalima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sprečava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neovlašćen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neovlašćene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podataka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Bez </a:t>
            </a:r>
            <a:r>
              <a:rPr lang="en-US" dirty="0" err="1"/>
              <a:t>njenih</a:t>
            </a:r>
            <a:r>
              <a:rPr lang="en-US" dirty="0"/>
              <a:t> </a:t>
            </a:r>
            <a:r>
              <a:rPr lang="en-US" dirty="0" err="1"/>
              <a:t>mehanizama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softverski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bi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zaštitu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bezbednu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4F824-A220-AD47-A7A9-943C9E7EF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72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EF339-642F-1231-1D86-BAC73C1B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C81D1-3195-AAB1-C412-FEC21EF12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77A64-67D6-A7B5-E5FD-DB1279584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kreiranje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API-ja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zahteva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TLS/SSL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zaštitu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veze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enkripciju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potpisivanje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povezivanje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RabbitMQ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serverom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6110C-4980-B1E6-9868-1FD5D22D1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91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85BD7-49CC-5EB9-712D-69275772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95927-3382-FF72-E9ED-C79396173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4A3E2-C395-D113-ECC5-14CF790F1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C54D5-2039-414E-1E48-F8FFBA20E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33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AED0-3D83-5E6A-9E0D-B816F4FA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2AFD9-0FD3-B0B0-56BA-9F2EF1EF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94607-F5AD-3944-8BDD-10A6E42E2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4A4B8-DA86-C206-E82E-6B9409E89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0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EA922-3825-8A3D-A5F2-E5563039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7C26F-597D-F1EF-0ED9-A110FBC4E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C578A-3DDC-5918-0C9C-C823D3020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9DFD2-01CB-C4ED-7F9B-00109139D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98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0A7B-C1AE-5E40-6DF4-F6004686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C5F06-9AED-EC8A-1C3A-011C3043A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EC2D2-9A6C-E675-FB61-230C28230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FF0F4-C237-CC01-10F4-C65E7BDD5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2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88880-2AB4-486E-0854-6325F2E3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D18CC-E5EC-5B69-A65E-4957D2055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6FE7C-1A4E-8B05-87B6-4CC12C437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55562-A9A6-D32A-934C-DF98FE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9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07871-142B-8CFF-5163-6EAD40B76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9C92B-95BB-83A6-4DCB-B813A9CBE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D4ADF-D75C-EA87-7678-9D52A8CEE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0853-5B6F-B16D-1C03-0A249890E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11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90B7-731D-781A-B9ED-D8FCF54D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AF28D-979A-A229-0B4F-ABA35C3BD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0D558-FE0E-7C80-FDE1-95FBD7681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0D046-A009-D090-C89E-95BB07EB9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93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626A-96E0-D707-422D-2A1A5C6E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24612-6D1B-95CB-FDC4-491206BF9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9A026-40A6-B446-40C5-FF2F794D6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88318-6CEF-2CF5-3C78-8890370F4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2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647F5-02A3-BE97-DFC4-935AAE22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7C1E7-6DBF-67A1-8835-81D607C6E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E6344-9682-D7B4-1FFF-BD84F3E76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157AB-E4F2-95A8-FD84-95507EA68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65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9C24-B8A6-6DAC-CD66-B7AD8EC7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DF90D-F271-99A4-7CB9-BEAB9D6AF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3AB0E-0CA2-4E94-123A-7072947B7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A6070-C27B-A84E-FAA8-A5F572B7D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21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A131-9FEA-9986-6696-DE30EF05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00C63-8B63-166E-C8C8-9E18B0BB4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A4C57-7B4F-0EF7-EB0B-3F946319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3D627-4C04-0FC4-B9BC-AEEBF317E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FC88B-9BBF-27A3-DDB2-1C1A8F1DA1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522075" y="63500"/>
            <a:ext cx="631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Proprietary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1A01-8CB7-A598-6DF1-F5D322EDD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1968874"/>
            <a:ext cx="8361229" cy="2098226"/>
          </a:xfrm>
        </p:spPr>
        <p:txBody>
          <a:bodyPr/>
          <a:lstStyle/>
          <a:p>
            <a:r>
              <a:rPr lang="en-US" sz="2600" b="1" dirty="0"/>
              <a:t>IMPLEMENTACIJA BEZBEDNOG SISTEMA ZA RAZMENU</a:t>
            </a:r>
            <a:br>
              <a:rPr lang="en-US" sz="2600" dirty="0"/>
            </a:br>
            <a:r>
              <a:rPr lang="en-US" sz="2600" b="1" dirty="0"/>
              <a:t>PORUKA ZASNOVANOG NA RABBITMQ-U SA PRIMENOM</a:t>
            </a:r>
            <a:br>
              <a:rPr lang="en-US" sz="2600" dirty="0"/>
            </a:br>
            <a:r>
              <a:rPr lang="en-US" sz="2600" b="1" dirty="0"/>
              <a:t>TLS-A I RSA KRIPTOGRAFIJE</a:t>
            </a:r>
            <a:br>
              <a:rPr lang="en-US" sz="2600" b="1" dirty="0"/>
            </a:br>
            <a:endParaRPr lang="en-US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99B67-63B3-EF71-5F5E-3BEF4C7EB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9313" y="4069685"/>
            <a:ext cx="2431569" cy="1076572"/>
          </a:xfrm>
        </p:spPr>
        <p:txBody>
          <a:bodyPr>
            <a:normAutofit/>
          </a:bodyPr>
          <a:lstStyle/>
          <a:p>
            <a:pPr algn="l"/>
            <a:r>
              <a:rPr lang="en-US" sz="1400" dirty="0"/>
              <a:t>Student:</a:t>
            </a:r>
          </a:p>
          <a:p>
            <a:pPr algn="l"/>
            <a:r>
              <a:rPr lang="en-US" sz="1400" dirty="0"/>
              <a:t>Andrea </a:t>
            </a:r>
            <a:r>
              <a:rPr lang="en-US" sz="1400" dirty="0" err="1"/>
              <a:t>Valčić</a:t>
            </a:r>
            <a:r>
              <a:rPr lang="en-US" sz="1400" dirty="0"/>
              <a:t>, br. Ind. 1928 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42C5F77-F833-8055-81E4-229F2033CB2B}"/>
              </a:ext>
            </a:extLst>
          </p:cNvPr>
          <p:cNvSpPr txBox="1">
            <a:spLocks/>
          </p:cNvSpPr>
          <p:nvPr/>
        </p:nvSpPr>
        <p:spPr>
          <a:xfrm>
            <a:off x="8718698" y="4067100"/>
            <a:ext cx="2023989" cy="1076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 err="1"/>
              <a:t>Profesori</a:t>
            </a:r>
            <a:r>
              <a:rPr lang="en-US" sz="1400" dirty="0"/>
              <a:t>:</a:t>
            </a:r>
          </a:p>
          <a:p>
            <a:pPr algn="l"/>
            <a:r>
              <a:rPr lang="en-US" sz="1400" dirty="0"/>
              <a:t>prof. dr Dragan Janković</a:t>
            </a:r>
          </a:p>
          <a:p>
            <a:pPr algn="l"/>
            <a:r>
              <a:rPr lang="en-US" sz="1400" dirty="0"/>
              <a:t>prof. dr Petar Rajković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98C0B7A9-C253-BA36-20FA-A046478750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63180" y="1160949"/>
            <a:ext cx="863600" cy="863600"/>
          </a:xfrm>
          <a:prstGeom prst="rect">
            <a:avLst/>
          </a:prstGeom>
        </p:spPr>
      </p:pic>
      <p:pic>
        <p:nvPicPr>
          <p:cNvPr id="7" name="image2.png">
            <a:extLst>
              <a:ext uri="{FF2B5EF4-FFF2-40B4-BE49-F238E27FC236}">
                <a16:creationId xmlns:a16="http://schemas.microsoft.com/office/drawing/2014/main" id="{3F2C6A83-B629-3FFC-5331-15DB45640A9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4705" y="1186349"/>
            <a:ext cx="837565" cy="838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7F9EA70E-44F4-B52B-74A1-928071627003}"/>
              </a:ext>
            </a:extLst>
          </p:cNvPr>
          <p:cNvSpPr txBox="1">
            <a:spLocks/>
          </p:cNvSpPr>
          <p:nvPr/>
        </p:nvSpPr>
        <p:spPr>
          <a:xfrm>
            <a:off x="4346492" y="1250168"/>
            <a:ext cx="3498499" cy="1076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UNIVERZITET U NIŠU ELEKTRONSKI FAKULTET </a:t>
            </a:r>
          </a:p>
        </p:txBody>
      </p:sp>
    </p:spTree>
    <p:extLst>
      <p:ext uri="{BB962C8B-B14F-4D97-AF65-F5344CB8AC3E}">
        <p14:creationId xmlns:p14="http://schemas.microsoft.com/office/powerpoint/2010/main" val="30815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D774-CA30-DE6C-DF3D-645FF6F6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7065"/>
          </a:xfrm>
        </p:spPr>
        <p:txBody>
          <a:bodyPr>
            <a:normAutofit/>
          </a:bodyPr>
          <a:lstStyle/>
          <a:p>
            <a:r>
              <a:rPr lang="en-US" dirty="0" err="1"/>
              <a:t>Sadržaj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41C5-58C8-F40E-2465-19873511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2865"/>
            <a:ext cx="9601200" cy="5071730"/>
          </a:xfrm>
        </p:spPr>
        <p:txBody>
          <a:bodyPr>
            <a:noAutofit/>
          </a:bodyPr>
          <a:lstStyle/>
          <a:p>
            <a:r>
              <a:rPr lang="en-US" sz="1800" dirty="0" err="1"/>
              <a:t>Koncept</a:t>
            </a:r>
            <a:r>
              <a:rPr lang="en-US" sz="1800" dirty="0"/>
              <a:t> </a:t>
            </a:r>
            <a:r>
              <a:rPr lang="en-US" sz="1800" dirty="0" err="1"/>
              <a:t>računarske</a:t>
            </a:r>
            <a:r>
              <a:rPr lang="en-US" sz="1800" dirty="0"/>
              <a:t> </a:t>
            </a:r>
            <a:r>
              <a:rPr lang="en-US" sz="1800" dirty="0" err="1"/>
              <a:t>bezbednosti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kriptografije</a:t>
            </a:r>
            <a:endParaRPr lang="en-US" sz="1800" dirty="0"/>
          </a:p>
          <a:p>
            <a:r>
              <a:rPr lang="en-US" sz="1800" dirty="0" err="1"/>
              <a:t>Razvojno</a:t>
            </a:r>
            <a:r>
              <a:rPr lang="en-US" sz="1800" dirty="0"/>
              <a:t> </a:t>
            </a:r>
            <a:r>
              <a:rPr lang="en-US" sz="1800" dirty="0" err="1"/>
              <a:t>okruženje</a:t>
            </a:r>
            <a:r>
              <a:rPr lang="en-US" sz="1800" dirty="0"/>
              <a:t>, </a:t>
            </a:r>
            <a:r>
              <a:rPr lang="en-US" sz="1800" dirty="0" err="1"/>
              <a:t>programski</a:t>
            </a:r>
            <a:r>
              <a:rPr lang="en-US" sz="1800" dirty="0"/>
              <a:t> </a:t>
            </a:r>
            <a:r>
              <a:rPr lang="en-US" sz="1800" dirty="0" err="1"/>
              <a:t>jezik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tehnologije</a:t>
            </a:r>
            <a:r>
              <a:rPr lang="en-US" sz="1800" dirty="0"/>
              <a:t> </a:t>
            </a:r>
            <a:r>
              <a:rPr lang="en-US" sz="1800" dirty="0" err="1"/>
              <a:t>korišćene</a:t>
            </a:r>
            <a:r>
              <a:rPr lang="en-US" sz="1800" dirty="0"/>
              <a:t> za </a:t>
            </a:r>
            <a:r>
              <a:rPr lang="en-US" sz="1800" dirty="0" err="1"/>
              <a:t>izradu</a:t>
            </a:r>
            <a:r>
              <a:rPr lang="en-US" sz="1800" dirty="0"/>
              <a:t> </a:t>
            </a:r>
            <a:r>
              <a:rPr lang="en-US" sz="1800" dirty="0" err="1"/>
              <a:t>praktičnog</a:t>
            </a:r>
            <a:r>
              <a:rPr lang="en-US" sz="1800" dirty="0"/>
              <a:t> dela</a:t>
            </a:r>
          </a:p>
          <a:p>
            <a:pPr lvl="1"/>
            <a:r>
              <a:rPr lang="en-US" sz="1800" dirty="0"/>
              <a:t>Visual Studio Code</a:t>
            </a:r>
          </a:p>
          <a:p>
            <a:pPr lvl="1"/>
            <a:r>
              <a:rPr lang="en-US" sz="1800" dirty="0"/>
              <a:t>Python</a:t>
            </a:r>
          </a:p>
          <a:p>
            <a:pPr lvl="1"/>
            <a:r>
              <a:rPr lang="en-US" sz="1800" dirty="0"/>
              <a:t>TLS</a:t>
            </a:r>
          </a:p>
          <a:p>
            <a:pPr lvl="1"/>
            <a:r>
              <a:rPr lang="en-US" sz="1800" dirty="0"/>
              <a:t>RSA </a:t>
            </a:r>
            <a:r>
              <a:rPr lang="en-US" sz="1800" dirty="0" err="1"/>
              <a:t>algoritam</a:t>
            </a:r>
            <a:endParaRPr lang="en-US" sz="1800" dirty="0"/>
          </a:p>
          <a:p>
            <a:pPr lvl="1"/>
            <a:r>
              <a:rPr lang="en-US" sz="1800" dirty="0"/>
              <a:t>Sign-then-Encrypt </a:t>
            </a:r>
            <a:r>
              <a:rPr lang="en-US" sz="1800" dirty="0" err="1"/>
              <a:t>šema</a:t>
            </a:r>
            <a:endParaRPr lang="en-US" sz="1800" dirty="0"/>
          </a:p>
          <a:p>
            <a:pPr lvl="1"/>
            <a:r>
              <a:rPr lang="en-US" sz="1800" dirty="0"/>
              <a:t>RabbitMQ</a:t>
            </a:r>
          </a:p>
          <a:p>
            <a:r>
              <a:rPr lang="en-US" sz="1800" dirty="0" err="1"/>
              <a:t>Implementacija</a:t>
            </a:r>
            <a:r>
              <a:rPr lang="en-US" sz="1800" dirty="0"/>
              <a:t> </a:t>
            </a:r>
            <a:r>
              <a:rPr lang="en-US" sz="1800" dirty="0" err="1"/>
              <a:t>praktičnog</a:t>
            </a:r>
            <a:r>
              <a:rPr lang="en-US" sz="1800" dirty="0"/>
              <a:t> dela</a:t>
            </a:r>
          </a:p>
          <a:p>
            <a:pPr lvl="1"/>
            <a:r>
              <a:rPr lang="en-US" sz="1800" dirty="0" err="1"/>
              <a:t>Arhitektura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endParaRPr lang="en-US" sz="1800" dirty="0"/>
          </a:p>
          <a:p>
            <a:pPr lvl="1"/>
            <a:r>
              <a:rPr lang="en-US" sz="1800" dirty="0" err="1"/>
              <a:t>Implementacija</a:t>
            </a:r>
            <a:r>
              <a:rPr lang="en-US" sz="1800" dirty="0"/>
              <a:t> RabbitMQ </a:t>
            </a:r>
            <a:r>
              <a:rPr lang="en-US" sz="1800" dirty="0" err="1"/>
              <a:t>servera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TLS-om</a:t>
            </a:r>
          </a:p>
          <a:p>
            <a:pPr lvl="1"/>
            <a:r>
              <a:rPr lang="en-US" sz="1800" dirty="0" err="1"/>
              <a:t>Implemetacija</a:t>
            </a:r>
            <a:r>
              <a:rPr lang="en-US" sz="1800" dirty="0"/>
              <a:t> </a:t>
            </a:r>
            <a:r>
              <a:rPr lang="en-US" sz="1800" dirty="0" err="1"/>
              <a:t>servera</a:t>
            </a:r>
            <a:endParaRPr lang="en-US" sz="1800" dirty="0"/>
          </a:p>
          <a:p>
            <a:pPr lvl="1"/>
            <a:r>
              <a:rPr lang="en-US" sz="1800" dirty="0" err="1"/>
              <a:t>Implemetacija</a:t>
            </a:r>
            <a:r>
              <a:rPr lang="en-US" sz="1800" dirty="0"/>
              <a:t> </a:t>
            </a:r>
            <a:r>
              <a:rPr lang="en-US" sz="1800" dirty="0" err="1"/>
              <a:t>klijentske</a:t>
            </a:r>
            <a:r>
              <a:rPr lang="en-US" sz="1800" dirty="0"/>
              <a:t> </a:t>
            </a:r>
            <a:r>
              <a:rPr lang="en-US" sz="1800" dirty="0" err="1"/>
              <a:t>aplikacije</a:t>
            </a:r>
            <a:endParaRPr lang="en-US" sz="1800" dirty="0"/>
          </a:p>
          <a:p>
            <a:r>
              <a:rPr lang="en-US" sz="1800" dirty="0"/>
              <a:t>Demo</a:t>
            </a:r>
          </a:p>
          <a:p>
            <a:r>
              <a:rPr lang="en-US" sz="1800" dirty="0" err="1"/>
              <a:t>Zaključak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768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0383C-14D4-4F1B-06F8-3F92A32C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2DBF-DBC9-E1CE-7976-51615464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Šta</a:t>
            </a:r>
            <a:r>
              <a:rPr lang="en-US" b="1" dirty="0"/>
              <a:t> je </a:t>
            </a:r>
            <a:r>
              <a:rPr lang="en-US" b="1" dirty="0" err="1"/>
              <a:t>računarska</a:t>
            </a:r>
            <a:r>
              <a:rPr lang="en-US" b="1" dirty="0"/>
              <a:t> </a:t>
            </a:r>
            <a:r>
              <a:rPr lang="en-US" b="1" dirty="0" err="1"/>
              <a:t>bezbednost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AE00-E648-5E2E-5537-01EA31FFF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389595" cy="3581400"/>
          </a:xfrm>
        </p:spPr>
        <p:txBody>
          <a:bodyPr>
            <a:normAutofit/>
          </a:bodyPr>
          <a:lstStyle/>
          <a:p>
            <a:r>
              <a:rPr lang="en-US" sz="1800" dirty="0" err="1"/>
              <a:t>Zaštitu</a:t>
            </a:r>
            <a:r>
              <a:rPr lang="en-US" sz="1800" dirty="0"/>
              <a:t> </a:t>
            </a:r>
            <a:r>
              <a:rPr lang="en-US" sz="1800" dirty="0" err="1"/>
              <a:t>informacionih</a:t>
            </a:r>
            <a:r>
              <a:rPr lang="en-US" sz="1800" dirty="0"/>
              <a:t> </a:t>
            </a:r>
            <a:r>
              <a:rPr lang="en-US" sz="1800" dirty="0" err="1"/>
              <a:t>sistema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njihovih</a:t>
            </a:r>
            <a:r>
              <a:rPr lang="en-US" sz="1800" dirty="0"/>
              <a:t> </a:t>
            </a:r>
            <a:r>
              <a:rPr lang="en-US" sz="1800" dirty="0" err="1"/>
              <a:t>resursa</a:t>
            </a:r>
            <a:endParaRPr lang="en-US" sz="1800" dirty="0"/>
          </a:p>
          <a:p>
            <a:r>
              <a:rPr lang="en-US" sz="1800" dirty="0" err="1"/>
              <a:t>Osnovni</a:t>
            </a:r>
            <a:r>
              <a:rPr lang="en-US" sz="1800" dirty="0"/>
              <a:t> </a:t>
            </a:r>
            <a:r>
              <a:rPr lang="en-US" sz="1800" dirty="0" err="1"/>
              <a:t>ciljevi</a:t>
            </a:r>
            <a:r>
              <a:rPr lang="en-US" sz="1800" dirty="0"/>
              <a:t> – CIA </a:t>
            </a:r>
            <a:r>
              <a:rPr lang="en-US" sz="1800" dirty="0" err="1"/>
              <a:t>triada</a:t>
            </a:r>
            <a:r>
              <a:rPr lang="en-US" sz="1800" dirty="0"/>
              <a:t>:</a:t>
            </a:r>
          </a:p>
          <a:p>
            <a:pPr lvl="1"/>
            <a:r>
              <a:rPr lang="en-US" sz="1800" i="0" dirty="0" err="1"/>
              <a:t>Poverljivost</a:t>
            </a:r>
            <a:r>
              <a:rPr lang="en-US" sz="1800" i="0" dirty="0"/>
              <a:t> (Confidentiality)</a:t>
            </a:r>
          </a:p>
          <a:p>
            <a:pPr lvl="1"/>
            <a:r>
              <a:rPr lang="en-US" sz="1800" i="0" dirty="0" err="1"/>
              <a:t>Integritet</a:t>
            </a:r>
            <a:r>
              <a:rPr lang="en-US" sz="1800" i="0" dirty="0"/>
              <a:t> (Integrity)</a:t>
            </a:r>
          </a:p>
          <a:p>
            <a:pPr lvl="1"/>
            <a:r>
              <a:rPr lang="en-US" sz="1800" i="0" dirty="0"/>
              <a:t>Dostupnost (Availability)</a:t>
            </a:r>
          </a:p>
          <a:p>
            <a:pPr marL="530352" lvl="1" indent="0">
              <a:buNone/>
            </a:pPr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 descr="A triangle with text and words&#10;&#10;AI-generated content may be incorrect.">
            <a:extLst>
              <a:ext uri="{FF2B5EF4-FFF2-40B4-BE49-F238E27FC236}">
                <a16:creationId xmlns:a16="http://schemas.microsoft.com/office/drawing/2014/main" id="{EFB5ED2C-C7AC-3080-8755-70061D24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367" y="2350235"/>
            <a:ext cx="4229993" cy="354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1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091B-EA12-E54F-DCE2-ED334B4C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0566-E4CB-0D97-69B1-8A240BBB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Uloga</a:t>
            </a:r>
            <a:r>
              <a:rPr lang="en-US" b="1" dirty="0"/>
              <a:t> </a:t>
            </a:r>
            <a:r>
              <a:rPr lang="en-US" b="1" dirty="0" err="1"/>
              <a:t>kriptografije</a:t>
            </a:r>
            <a:r>
              <a:rPr lang="en-US" b="1" dirty="0"/>
              <a:t> u </a:t>
            </a:r>
            <a:r>
              <a:rPr lang="en-US" b="1" dirty="0" err="1"/>
              <a:t>računarskoj</a:t>
            </a:r>
            <a:r>
              <a:rPr lang="en-US" b="1" dirty="0"/>
              <a:t> </a:t>
            </a:r>
            <a:r>
              <a:rPr lang="en-US" b="1" dirty="0" err="1"/>
              <a:t>bezbednosti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27DB-E0A4-3480-54A5-5B28B9287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10320714" cy="3581400"/>
          </a:xfrm>
        </p:spPr>
        <p:txBody>
          <a:bodyPr>
            <a:normAutofit/>
          </a:bodyPr>
          <a:lstStyle/>
          <a:p>
            <a:r>
              <a:rPr lang="en-US" sz="1800" dirty="0" err="1"/>
              <a:t>Omogućava</a:t>
            </a:r>
            <a:r>
              <a:rPr lang="en-US" sz="1800" dirty="0"/>
              <a:t> </a:t>
            </a:r>
            <a:r>
              <a:rPr lang="en-US" sz="1800" dirty="0" err="1"/>
              <a:t>zaštitu</a:t>
            </a:r>
            <a:r>
              <a:rPr lang="en-US" sz="1800" dirty="0"/>
              <a:t> </a:t>
            </a:r>
            <a:r>
              <a:rPr lang="en-US" sz="1800" dirty="0" err="1"/>
              <a:t>podataka</a:t>
            </a:r>
            <a:r>
              <a:rPr lang="en-US" sz="1800" dirty="0"/>
              <a:t> u </a:t>
            </a:r>
            <a:r>
              <a:rPr lang="en-US" sz="1800" dirty="0" err="1"/>
              <a:t>softverskim</a:t>
            </a:r>
            <a:r>
              <a:rPr lang="en-US" sz="1800" dirty="0"/>
              <a:t> </a:t>
            </a:r>
            <a:r>
              <a:rPr lang="en-US" sz="1800" dirty="0" err="1"/>
              <a:t>sistemima</a:t>
            </a:r>
            <a:endParaRPr lang="en-US" sz="1800" dirty="0"/>
          </a:p>
          <a:p>
            <a:r>
              <a:rPr lang="en-US" sz="1800" dirty="0" err="1"/>
              <a:t>Obezbeđuje</a:t>
            </a:r>
            <a:r>
              <a:rPr lang="en-US" sz="1800" dirty="0"/>
              <a:t> </a:t>
            </a:r>
            <a:r>
              <a:rPr lang="en-US" sz="1800" dirty="0" err="1"/>
              <a:t>sigurnu</a:t>
            </a:r>
            <a:r>
              <a:rPr lang="en-US" sz="1800" dirty="0"/>
              <a:t> </a:t>
            </a:r>
            <a:r>
              <a:rPr lang="en-US" sz="1800" dirty="0" err="1"/>
              <a:t>razmenu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čuvanje</a:t>
            </a:r>
            <a:r>
              <a:rPr lang="en-US" sz="1800" dirty="0"/>
              <a:t> </a:t>
            </a:r>
            <a:r>
              <a:rPr lang="en-US" sz="1800" dirty="0" err="1"/>
              <a:t>informacija</a:t>
            </a:r>
            <a:endParaRPr lang="en-US" sz="1800" dirty="0"/>
          </a:p>
          <a:p>
            <a:r>
              <a:rPr lang="en-US" sz="1800" dirty="0" err="1"/>
              <a:t>Pruža</a:t>
            </a:r>
            <a:r>
              <a:rPr lang="en-US" sz="1800" dirty="0"/>
              <a:t> </a:t>
            </a:r>
            <a:r>
              <a:rPr lang="en-US" sz="1800" dirty="0" err="1"/>
              <a:t>ostvarivanje</a:t>
            </a:r>
            <a:r>
              <a:rPr lang="en-US" sz="1800" dirty="0"/>
              <a:t> </a:t>
            </a:r>
            <a:r>
              <a:rPr lang="en-US" sz="1800" dirty="0" err="1"/>
              <a:t>ključnih</a:t>
            </a:r>
            <a:r>
              <a:rPr lang="en-US" sz="1800" dirty="0"/>
              <a:t> </a:t>
            </a:r>
            <a:r>
              <a:rPr lang="en-US" sz="1800" dirty="0" err="1"/>
              <a:t>bezbednosnih</a:t>
            </a:r>
            <a:r>
              <a:rPr lang="en-US" sz="1800" dirty="0"/>
              <a:t> </a:t>
            </a:r>
            <a:r>
              <a:rPr lang="en-US" sz="1800" dirty="0" err="1"/>
              <a:t>ciljeva</a:t>
            </a:r>
            <a:r>
              <a:rPr lang="en-US" sz="1800" dirty="0"/>
              <a:t>, </a:t>
            </a:r>
            <a:r>
              <a:rPr lang="en-US" sz="1800" dirty="0" err="1"/>
              <a:t>kao</a:t>
            </a:r>
            <a:r>
              <a:rPr lang="en-US" sz="1800" dirty="0"/>
              <a:t> </a:t>
            </a:r>
            <a:r>
              <a:rPr lang="en-US" sz="1800" dirty="0" err="1"/>
              <a:t>što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poverljivost</a:t>
            </a:r>
            <a:r>
              <a:rPr lang="en-US" sz="1800" dirty="0"/>
              <a:t>, </a:t>
            </a:r>
            <a:r>
              <a:rPr lang="en-US" sz="1800" dirty="0" err="1"/>
              <a:t>integritet</a:t>
            </a:r>
            <a:r>
              <a:rPr lang="en-US" sz="1800" dirty="0"/>
              <a:t>, </a:t>
            </a:r>
            <a:r>
              <a:rPr lang="en-US" sz="1800" dirty="0" err="1"/>
              <a:t>autentičnost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neporicanje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 err="1"/>
              <a:t>Šifrovanje</a:t>
            </a:r>
            <a:endParaRPr lang="en-US" sz="1800" dirty="0"/>
          </a:p>
          <a:p>
            <a:pPr lvl="1"/>
            <a:r>
              <a:rPr lang="en-US" sz="1800" i="0" dirty="0" err="1"/>
              <a:t>Poverljivost</a:t>
            </a:r>
            <a:r>
              <a:rPr lang="en-US" sz="1800" i="0" dirty="0"/>
              <a:t> </a:t>
            </a:r>
            <a:r>
              <a:rPr lang="en-US" sz="1800" i="0" dirty="0" err="1"/>
              <a:t>podatak</a:t>
            </a:r>
            <a:endParaRPr lang="en-US" sz="1800" i="0" dirty="0"/>
          </a:p>
          <a:p>
            <a:r>
              <a:rPr lang="en-US" sz="1800" dirty="0" err="1"/>
              <a:t>Digitalni</a:t>
            </a:r>
            <a:r>
              <a:rPr lang="en-US" sz="1800" dirty="0"/>
              <a:t> </a:t>
            </a:r>
            <a:r>
              <a:rPr lang="en-US" sz="1800" dirty="0" err="1"/>
              <a:t>potpis</a:t>
            </a:r>
            <a:r>
              <a:rPr lang="en-US" sz="1800" dirty="0"/>
              <a:t> </a:t>
            </a:r>
          </a:p>
          <a:p>
            <a:pPr lvl="1"/>
            <a:r>
              <a:rPr lang="en-US" sz="1800" i="0" dirty="0" err="1"/>
              <a:t>Autentičnost</a:t>
            </a:r>
            <a:r>
              <a:rPr lang="en-US" sz="1800" i="0" dirty="0"/>
              <a:t>, </a:t>
            </a:r>
            <a:r>
              <a:rPr lang="en-US" sz="1800" i="0" dirty="0" err="1"/>
              <a:t>integritet</a:t>
            </a:r>
            <a:r>
              <a:rPr lang="en-US" sz="1800" i="0" dirty="0"/>
              <a:t> </a:t>
            </a:r>
            <a:r>
              <a:rPr lang="en-US" sz="1800" i="0" dirty="0" err="1"/>
              <a:t>poruke</a:t>
            </a:r>
            <a:r>
              <a:rPr lang="en-US" sz="1800" i="0" dirty="0"/>
              <a:t>, </a:t>
            </a:r>
            <a:r>
              <a:rPr lang="en-US" sz="1800" i="0" dirty="0" err="1"/>
              <a:t>potvrdu</a:t>
            </a:r>
            <a:r>
              <a:rPr lang="en-US" sz="1800" i="0" dirty="0"/>
              <a:t> </a:t>
            </a:r>
            <a:r>
              <a:rPr lang="en-US" sz="1800" i="0" dirty="0" err="1"/>
              <a:t>identitet</a:t>
            </a:r>
            <a:r>
              <a:rPr lang="en-US" sz="1800" i="0" dirty="0"/>
              <a:t> </a:t>
            </a:r>
            <a:r>
              <a:rPr lang="en-US" sz="1800" i="0" dirty="0" err="1"/>
              <a:t>njenog</a:t>
            </a:r>
            <a:r>
              <a:rPr lang="en-US" sz="1800" i="0" dirty="0"/>
              <a:t> </a:t>
            </a:r>
            <a:r>
              <a:rPr lang="en-US" sz="1800" i="0" dirty="0" err="1"/>
              <a:t>pošiljaoca</a:t>
            </a:r>
            <a:endParaRPr lang="en-US" sz="1800" i="0" dirty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1806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A6F6-454E-DDAB-CAEA-9AD59E7D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D884-A982-DD8D-D109-C1861F8C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Razvojno</a:t>
            </a:r>
            <a:r>
              <a:rPr lang="en-US" b="1" dirty="0"/>
              <a:t> </a:t>
            </a:r>
            <a:r>
              <a:rPr lang="en-US" b="1" dirty="0" err="1"/>
              <a:t>okruženje</a:t>
            </a:r>
            <a:r>
              <a:rPr lang="en-US" b="1" dirty="0"/>
              <a:t>, </a:t>
            </a:r>
            <a:r>
              <a:rPr lang="en-US" b="1" dirty="0" err="1"/>
              <a:t>programski</a:t>
            </a:r>
            <a:r>
              <a:rPr lang="en-US" b="1" dirty="0"/>
              <a:t> </a:t>
            </a:r>
            <a:r>
              <a:rPr lang="en-US" b="1" dirty="0" err="1"/>
              <a:t>jezik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tehnologije</a:t>
            </a:r>
            <a:r>
              <a:rPr lang="en-US" b="1" dirty="0"/>
              <a:t> </a:t>
            </a:r>
            <a:r>
              <a:rPr lang="en-US" b="1" dirty="0" err="1"/>
              <a:t>korišćene</a:t>
            </a:r>
            <a:r>
              <a:rPr lang="en-US" b="1" dirty="0"/>
              <a:t> za </a:t>
            </a:r>
            <a:r>
              <a:rPr lang="en-US" b="1" dirty="0" err="1"/>
              <a:t>izradu</a:t>
            </a:r>
            <a:r>
              <a:rPr lang="en-US" b="1" dirty="0"/>
              <a:t> </a:t>
            </a:r>
            <a:r>
              <a:rPr lang="en-US" b="1" dirty="0" err="1"/>
              <a:t>praktičnog</a:t>
            </a:r>
            <a:r>
              <a:rPr lang="en-US" b="1" dirty="0"/>
              <a:t> dela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FF530-4168-498A-88E0-0821A6A6B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10320714" cy="3581400"/>
          </a:xfrm>
        </p:spPr>
        <p:txBody>
          <a:bodyPr>
            <a:normAutofit/>
          </a:bodyPr>
          <a:lstStyle/>
          <a:p>
            <a:r>
              <a:rPr lang="en-US" sz="1800" dirty="0"/>
              <a:t>Visual Studio Code</a:t>
            </a:r>
          </a:p>
          <a:p>
            <a:endParaRPr lang="en-US" sz="1800" dirty="0"/>
          </a:p>
          <a:p>
            <a:r>
              <a:rPr lang="en-US" sz="1800" dirty="0"/>
              <a:t>Python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korišćene</a:t>
            </a:r>
            <a:r>
              <a:rPr lang="en-US" sz="1800" dirty="0"/>
              <a:t> </a:t>
            </a:r>
            <a:r>
              <a:rPr lang="en-US" sz="1800" dirty="0" err="1"/>
              <a:t>biblioteke</a:t>
            </a:r>
            <a:endParaRPr lang="en-US" sz="1800" dirty="0"/>
          </a:p>
          <a:p>
            <a:pPr lvl="1"/>
            <a:r>
              <a:rPr lang="en-US" sz="1800" i="0" dirty="0" err="1"/>
              <a:t>FastAPI</a:t>
            </a:r>
            <a:endParaRPr lang="en-US" sz="1800" i="0" dirty="0"/>
          </a:p>
          <a:p>
            <a:pPr lvl="1"/>
            <a:r>
              <a:rPr lang="en-US" sz="1800" i="0" dirty="0"/>
              <a:t>Requests</a:t>
            </a:r>
          </a:p>
          <a:p>
            <a:pPr lvl="1"/>
            <a:r>
              <a:rPr lang="en-US" sz="1800" i="0" dirty="0"/>
              <a:t>SSL</a:t>
            </a:r>
          </a:p>
          <a:p>
            <a:pPr lvl="1"/>
            <a:r>
              <a:rPr lang="en-US" sz="1800" i="0" dirty="0"/>
              <a:t>Cryptography</a:t>
            </a:r>
          </a:p>
          <a:p>
            <a:pPr lvl="1"/>
            <a:r>
              <a:rPr lang="en-US" sz="1800" i="0" dirty="0"/>
              <a:t>Pika</a:t>
            </a:r>
          </a:p>
          <a:p>
            <a:pPr lvl="1"/>
            <a:endParaRPr lang="en-US" sz="1800" dirty="0"/>
          </a:p>
          <a:p>
            <a:pPr marL="530352" lvl="1" indent="0">
              <a:buNone/>
            </a:pPr>
            <a:endParaRPr lang="en-US" sz="1800" dirty="0"/>
          </a:p>
          <a:p>
            <a:pPr lvl="1"/>
            <a:endParaRPr lang="en-US" sz="1800" dirty="0"/>
          </a:p>
          <a:p>
            <a:pPr marL="530352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671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95028-209E-394F-147B-DB110E8F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6CC0-4127-18DB-1760-8E40C265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/>
              <a:t>TLS (Transport Layer Security)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6E12D-D49D-4A95-8058-BC9871F2C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pPr lvl="1"/>
            <a:r>
              <a:rPr lang="en-US" sz="1800" i="0"/>
              <a:t>Obezbeđuje</a:t>
            </a:r>
            <a:r>
              <a:rPr lang="en-US" sz="1800" i="0" dirty="0"/>
              <a:t> </a:t>
            </a:r>
            <a:r>
              <a:rPr lang="en-US" sz="1800" i="0"/>
              <a:t>privatnost</a:t>
            </a:r>
            <a:r>
              <a:rPr lang="en-US" sz="1800" i="0" dirty="0"/>
              <a:t> </a:t>
            </a:r>
            <a:r>
              <a:rPr lang="en-US" sz="1800" i="0"/>
              <a:t>i</a:t>
            </a:r>
            <a:r>
              <a:rPr lang="en-US" sz="1800" i="0" dirty="0"/>
              <a:t> </a:t>
            </a:r>
            <a:r>
              <a:rPr lang="en-US" sz="1800" i="0"/>
              <a:t>zaštitu</a:t>
            </a:r>
            <a:r>
              <a:rPr lang="en-US" sz="1800" i="0" dirty="0"/>
              <a:t> </a:t>
            </a:r>
            <a:r>
              <a:rPr lang="en-US" sz="1800" i="0"/>
              <a:t>podataka</a:t>
            </a:r>
            <a:r>
              <a:rPr lang="en-US" sz="1800" i="0" dirty="0"/>
              <a:t> </a:t>
            </a:r>
            <a:r>
              <a:rPr lang="en-US" sz="1800" i="0"/>
              <a:t>tokom</a:t>
            </a:r>
            <a:r>
              <a:rPr lang="en-US" sz="1800" i="0" dirty="0"/>
              <a:t> </a:t>
            </a:r>
            <a:r>
              <a:rPr lang="en-US" sz="1800" i="0"/>
              <a:t>komunikacije</a:t>
            </a:r>
            <a:endParaRPr lang="en-US" sz="1800" i="0" dirty="0"/>
          </a:p>
          <a:p>
            <a:pPr lvl="1"/>
            <a:r>
              <a:rPr lang="en-US" sz="1800" i="0"/>
              <a:t>Enkriptuje</a:t>
            </a:r>
            <a:r>
              <a:rPr lang="en-US" sz="1800" i="0" dirty="0"/>
              <a:t> </a:t>
            </a:r>
            <a:r>
              <a:rPr lang="en-US" sz="1800" i="0"/>
              <a:t>komunikaciju</a:t>
            </a:r>
            <a:r>
              <a:rPr lang="en-US" sz="1800" i="0" dirty="0"/>
              <a:t> </a:t>
            </a:r>
            <a:r>
              <a:rPr lang="en-US" sz="1800" i="0"/>
              <a:t>između</a:t>
            </a:r>
            <a:r>
              <a:rPr lang="en-US" sz="1800" i="0" dirty="0"/>
              <a:t> </a:t>
            </a:r>
            <a:r>
              <a:rPr lang="en-US" sz="1800" i="0"/>
              <a:t>aplikacija</a:t>
            </a:r>
            <a:r>
              <a:rPr lang="en-US" sz="1800" i="0" dirty="0"/>
              <a:t> </a:t>
            </a:r>
            <a:r>
              <a:rPr lang="en-US" sz="1800" i="0"/>
              <a:t>i</a:t>
            </a:r>
            <a:r>
              <a:rPr lang="en-US" sz="1800" i="0" dirty="0"/>
              <a:t> </a:t>
            </a:r>
            <a:r>
              <a:rPr lang="en-US" sz="1800" i="0"/>
              <a:t>servera</a:t>
            </a:r>
            <a:endParaRPr lang="en-US" sz="1800" i="0" dirty="0"/>
          </a:p>
          <a:p>
            <a:pPr lvl="1"/>
            <a:r>
              <a:rPr lang="en-US" sz="1800" i="0"/>
              <a:t>Unapređenje</a:t>
            </a:r>
            <a:r>
              <a:rPr lang="en-US" sz="1800" i="0" dirty="0"/>
              <a:t> </a:t>
            </a:r>
            <a:r>
              <a:rPr lang="en-US" sz="1800" i="0"/>
              <a:t>starijeg</a:t>
            </a:r>
            <a:r>
              <a:rPr lang="en-US" sz="1800" i="0" dirty="0"/>
              <a:t> </a:t>
            </a:r>
            <a:r>
              <a:rPr lang="en-US" sz="1800" i="0"/>
              <a:t>protokola</a:t>
            </a:r>
            <a:r>
              <a:rPr lang="en-US" sz="1800" i="0" dirty="0"/>
              <a:t> SSL (Secure Sockets Layer)</a:t>
            </a:r>
          </a:p>
          <a:p>
            <a:pPr lvl="1"/>
            <a:r>
              <a:rPr lang="en-US" sz="1800" i="0"/>
              <a:t>Sajtovi</a:t>
            </a:r>
            <a:r>
              <a:rPr lang="en-US" sz="1800" i="0" dirty="0"/>
              <a:t> koji </a:t>
            </a:r>
            <a:r>
              <a:rPr lang="en-US" sz="1800" i="0"/>
              <a:t>koriste</a:t>
            </a:r>
            <a:r>
              <a:rPr lang="en-US" sz="1800" i="0" dirty="0"/>
              <a:t> HTTPS </a:t>
            </a:r>
            <a:r>
              <a:rPr lang="en-US" sz="1800" i="0"/>
              <a:t>koriste</a:t>
            </a:r>
            <a:r>
              <a:rPr lang="en-US" sz="1800" i="0" dirty="0"/>
              <a:t> TLS za </a:t>
            </a:r>
            <a:r>
              <a:rPr lang="en-US" sz="1800" i="0"/>
              <a:t>zaštitu</a:t>
            </a:r>
            <a:r>
              <a:rPr lang="en-US" sz="1800" i="0" dirty="0"/>
              <a:t> </a:t>
            </a:r>
            <a:r>
              <a:rPr lang="en-US" sz="1800" i="0"/>
              <a:t>podataka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</p:txBody>
      </p:sp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23311D1D-0B11-2050-EBD3-B0B785C4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324" y="2171700"/>
            <a:ext cx="5758912" cy="329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5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0A4DE-8851-95DF-2029-C57B6A63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6016-38D2-4B3D-FE7B-59E044EB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/>
              <a:t>RSA</a:t>
            </a:r>
            <a:r>
              <a:rPr lang="en-US" b="1"/>
              <a:t> (Rivest-Shamir-Adleman) algoritam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D5A5-2424-E620-0649-3B764BA57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pPr lvl="1"/>
            <a:r>
              <a:rPr lang="en-US" sz="1800" i="0"/>
              <a:t>Asimetrični kriptografski sistem</a:t>
            </a:r>
          </a:p>
          <a:p>
            <a:pPr lvl="1"/>
            <a:r>
              <a:rPr lang="en-US" sz="1800" i="0"/>
              <a:t>Koristi par ključeva: javni i privatni</a:t>
            </a:r>
          </a:p>
          <a:p>
            <a:pPr marL="530352" lvl="1" indent="0">
              <a:buNone/>
            </a:pPr>
            <a:endParaRPr lang="en-US" sz="1800" i="0"/>
          </a:p>
          <a:p>
            <a:pPr marL="530352" lvl="1" indent="0">
              <a:buNone/>
            </a:pPr>
            <a:endParaRPr lang="en-US" sz="1800" i="0" dirty="0"/>
          </a:p>
        </p:txBody>
      </p:sp>
      <p:pic>
        <p:nvPicPr>
          <p:cNvPr id="5" name="Picture 4" descr="A diagram of a computer security system&#10;&#10;AI-generated content may be incorrect.">
            <a:extLst>
              <a:ext uri="{FF2B5EF4-FFF2-40B4-BE49-F238E27FC236}">
                <a16:creationId xmlns:a16="http://schemas.microsoft.com/office/drawing/2014/main" id="{EF70B506-C09F-8A74-D5AD-C18B0B7594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99" y="3336582"/>
            <a:ext cx="7961087" cy="244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7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37CB1-794C-957B-5E3A-3A17D8A6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D4C0-4159-7A4D-9FC8-F3C60437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/>
              <a:t>Sign-then-Encrypt </a:t>
            </a:r>
            <a:r>
              <a:rPr lang="en-US" b="1" dirty="0" err="1"/>
              <a:t>šema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48148-7975-09AE-4048-3A011E375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pPr lvl="1"/>
            <a:r>
              <a:rPr lang="en-US" sz="1800" i="0" dirty="0" err="1"/>
              <a:t>Kriptografska</a:t>
            </a:r>
            <a:r>
              <a:rPr lang="en-US" sz="1800" i="0" dirty="0"/>
              <a:t> </a:t>
            </a:r>
            <a:r>
              <a:rPr lang="en-US" sz="1800" i="0" dirty="0" err="1"/>
              <a:t>tehnika</a:t>
            </a:r>
            <a:endParaRPr lang="en-US" sz="1800" i="0" dirty="0"/>
          </a:p>
          <a:p>
            <a:pPr lvl="1"/>
            <a:r>
              <a:rPr lang="en-US" sz="1800" i="0" dirty="0" err="1"/>
              <a:t>Poruka</a:t>
            </a:r>
            <a:r>
              <a:rPr lang="en-US" sz="1800" i="0" dirty="0"/>
              <a:t> se </a:t>
            </a:r>
            <a:r>
              <a:rPr lang="en-US" sz="1800" i="0" dirty="0" err="1"/>
              <a:t>digitalno</a:t>
            </a:r>
            <a:r>
              <a:rPr lang="en-US" sz="1800" i="0" dirty="0"/>
              <a:t> </a:t>
            </a:r>
            <a:r>
              <a:rPr lang="en-US" sz="1800" i="0" dirty="0" err="1"/>
              <a:t>potpisuje</a:t>
            </a:r>
            <a:r>
              <a:rPr lang="en-US" sz="1800" i="0" dirty="0"/>
              <a:t>, </a:t>
            </a:r>
            <a:br>
              <a:rPr lang="en-US" sz="1800" i="0" dirty="0"/>
            </a:br>
            <a:r>
              <a:rPr lang="en-US" sz="1800" i="0" dirty="0"/>
              <a:t>pa </a:t>
            </a:r>
            <a:r>
              <a:rPr lang="en-US" sz="1800" i="0" dirty="0" err="1"/>
              <a:t>šifruje</a:t>
            </a:r>
            <a:r>
              <a:rPr lang="en-US" sz="1800" i="0" dirty="0"/>
              <a:t> pre </a:t>
            </a:r>
            <a:r>
              <a:rPr lang="en-US" sz="1800" i="0" dirty="0" err="1"/>
              <a:t>slanja</a:t>
            </a:r>
            <a:endParaRPr lang="en-US" sz="1800" i="0" dirty="0"/>
          </a:p>
          <a:p>
            <a:pPr lvl="1"/>
            <a:r>
              <a:rPr lang="en-US" sz="1800" i="0" dirty="0" err="1"/>
              <a:t>Obezbeđuju</a:t>
            </a:r>
            <a:r>
              <a:rPr lang="en-US" sz="1800" i="0" dirty="0"/>
              <a:t> </a:t>
            </a:r>
            <a:r>
              <a:rPr lang="en-US" sz="1800" i="0" dirty="0" err="1"/>
              <a:t>autentičnost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integritet</a:t>
            </a:r>
            <a:r>
              <a:rPr lang="en-US" sz="1800" i="0" dirty="0"/>
              <a:t> </a:t>
            </a:r>
            <a:r>
              <a:rPr lang="en-US" sz="1800" i="0" dirty="0" err="1"/>
              <a:t>poruke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873E3F-4A7B-DE51-E070-0CA75F4838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2323" y="2171700"/>
            <a:ext cx="5411582" cy="405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9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5D686-8E87-EB61-2865-B5373F8D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1288-EC4C-B0D4-C215-34DCDF14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/>
              <a:t>RabbitMQ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1428B-34D3-E9E4-8692-5DB1AE21C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pPr lvl="1"/>
            <a:r>
              <a:rPr lang="en-US" sz="1800" i="0" dirty="0" err="1"/>
              <a:t>Posrednik</a:t>
            </a:r>
            <a:r>
              <a:rPr lang="en-US" sz="1800" i="0" dirty="0"/>
              <a:t> u </a:t>
            </a:r>
            <a:r>
              <a:rPr lang="en-US" sz="1800" i="0" dirty="0" err="1"/>
              <a:t>razmeni</a:t>
            </a:r>
            <a:r>
              <a:rPr lang="en-US" sz="1800" i="0" dirty="0"/>
              <a:t> </a:t>
            </a:r>
            <a:r>
              <a:rPr lang="en-US" sz="1800" i="0" dirty="0" err="1"/>
              <a:t>poruka</a:t>
            </a:r>
            <a:endParaRPr lang="en-US" sz="1800" i="0" dirty="0"/>
          </a:p>
          <a:p>
            <a:pPr lvl="1"/>
            <a:r>
              <a:rPr lang="en-US" sz="1800" i="0" dirty="0" err="1"/>
              <a:t>Vrši</a:t>
            </a:r>
            <a:r>
              <a:rPr lang="en-US" sz="1800" i="0" dirty="0"/>
              <a:t> </a:t>
            </a:r>
            <a:r>
              <a:rPr lang="en-US" sz="1800" i="0" dirty="0" err="1"/>
              <a:t>prijem</a:t>
            </a:r>
            <a:r>
              <a:rPr lang="en-US" sz="1800" i="0" dirty="0"/>
              <a:t> </a:t>
            </a:r>
            <a:r>
              <a:rPr lang="en-US" sz="1800" i="0" dirty="0" err="1"/>
              <a:t>poruka</a:t>
            </a:r>
            <a:r>
              <a:rPr lang="en-US" sz="1800" i="0" dirty="0"/>
              <a:t> od </a:t>
            </a:r>
            <a:r>
              <a:rPr lang="en-US" sz="1800" i="0" dirty="0" err="1"/>
              <a:t>proizvođača</a:t>
            </a:r>
            <a:r>
              <a:rPr lang="en-US" sz="1800" i="0" dirty="0"/>
              <a:t> i </a:t>
            </a:r>
            <a:r>
              <a:rPr lang="en-US" sz="1800" i="0" dirty="0" err="1"/>
              <a:t>isporučuje</a:t>
            </a:r>
            <a:r>
              <a:rPr lang="en-US" sz="1800" i="0" dirty="0"/>
              <a:t> </a:t>
            </a:r>
            <a:r>
              <a:rPr lang="en-US" sz="1800" i="0" dirty="0" err="1"/>
              <a:t>ih</a:t>
            </a:r>
            <a:r>
              <a:rPr lang="en-US" sz="1800" i="0" dirty="0"/>
              <a:t> </a:t>
            </a:r>
            <a:r>
              <a:rPr lang="en-US" sz="1800" i="0" dirty="0" err="1"/>
              <a:t>potrošačima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lvl="1"/>
            <a:endParaRPr lang="en-US" sz="1800" i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A948B-05DF-C557-D8BB-803675C2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073" y="3145128"/>
            <a:ext cx="6619014" cy="253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51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65F8-5197-48F3-248C-A73EFC0F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61F2-F948-CA90-1220-17A081A3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Arhitektura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8D9861-F8C3-8CFF-5C95-F5E6BE574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1706983"/>
            <a:ext cx="7670800" cy="344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5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68E6D-DC29-7396-F22A-1759440E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C3FBE-5281-9107-0B3F-49529E0F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/>
              <a:t>Implementacija RabbitMQ servera sa TLS-om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F0F9-FAA1-606B-2A85-9102219D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pPr marL="530352" lvl="1" indent="0">
              <a:buNone/>
            </a:pPr>
            <a:r>
              <a:rPr lang="en-US" sz="1800" i="0" dirty="0" err="1"/>
              <a:t>Radni</a:t>
            </a:r>
            <a:r>
              <a:rPr lang="en-US" sz="1800" i="0" dirty="0"/>
              <a:t> </a:t>
            </a:r>
            <a:r>
              <a:rPr lang="en-US" sz="1800" i="0" dirty="0" err="1"/>
              <a:t>direktorijum</a:t>
            </a:r>
            <a:r>
              <a:rPr lang="en-US" sz="1800" i="0" dirty="0"/>
              <a:t> </a:t>
            </a:r>
            <a:r>
              <a:rPr lang="en-US" sz="1800" dirty="0" err="1"/>
              <a:t>rabbitmq</a:t>
            </a:r>
            <a:r>
              <a:rPr lang="en-US" sz="1800" dirty="0"/>
              <a:t>-certs</a:t>
            </a:r>
            <a:r>
              <a:rPr lang="en-US" sz="1800" i="0" dirty="0"/>
              <a:t>:</a:t>
            </a:r>
          </a:p>
          <a:p>
            <a:pPr lvl="1"/>
            <a:r>
              <a:rPr lang="en-US" sz="1800" i="0" dirty="0"/>
              <a:t>CA </a:t>
            </a:r>
            <a:r>
              <a:rPr lang="en-US" sz="1800" i="0" dirty="0" err="1"/>
              <a:t>sertifikat</a:t>
            </a:r>
            <a:r>
              <a:rPr lang="en-US" sz="1800" i="0" dirty="0"/>
              <a:t> (</a:t>
            </a:r>
            <a:r>
              <a:rPr lang="en-US" sz="1800" i="0" dirty="0" err="1"/>
              <a:t>ca.pem</a:t>
            </a:r>
            <a:r>
              <a:rPr lang="en-US" sz="1800" i="0" dirty="0"/>
              <a:t>) - </a:t>
            </a:r>
            <a:r>
              <a:rPr lang="en-US" sz="1800" i="0" dirty="0" err="1"/>
              <a:t>autoriteti</a:t>
            </a:r>
            <a:r>
              <a:rPr lang="en-US" sz="1800" i="0" dirty="0"/>
              <a:t> </a:t>
            </a:r>
            <a:r>
              <a:rPr lang="en-US" sz="1800" i="0" dirty="0" err="1"/>
              <a:t>sertifikata</a:t>
            </a:r>
            <a:endParaRPr lang="en-US" sz="1800" i="0" dirty="0"/>
          </a:p>
          <a:p>
            <a:pPr lvl="1"/>
            <a:r>
              <a:rPr lang="en-US" sz="1800" i="0" dirty="0" err="1"/>
              <a:t>Serverski</a:t>
            </a:r>
            <a:r>
              <a:rPr lang="en-US" sz="1800" i="0" dirty="0"/>
              <a:t> </a:t>
            </a:r>
            <a:r>
              <a:rPr lang="en-US" sz="1800" i="0" dirty="0" err="1"/>
              <a:t>privatni</a:t>
            </a:r>
            <a:r>
              <a:rPr lang="en-US" sz="1800" i="0" dirty="0"/>
              <a:t> </a:t>
            </a:r>
            <a:r>
              <a:rPr lang="en-US" sz="1800" i="0" dirty="0" err="1"/>
              <a:t>ključ</a:t>
            </a:r>
            <a:r>
              <a:rPr lang="en-US" sz="1800" i="0" dirty="0"/>
              <a:t> (</a:t>
            </a:r>
            <a:r>
              <a:rPr lang="en-US" sz="1800" i="0" dirty="0" err="1"/>
              <a:t>server.key</a:t>
            </a:r>
            <a:r>
              <a:rPr lang="en-US" sz="1800" i="0" dirty="0"/>
              <a:t>)</a:t>
            </a:r>
          </a:p>
          <a:p>
            <a:pPr lvl="1"/>
            <a:r>
              <a:rPr lang="en-US" sz="1800" i="0" dirty="0" err="1"/>
              <a:t>Serverski</a:t>
            </a:r>
            <a:r>
              <a:rPr lang="en-US" sz="1800" i="0" dirty="0"/>
              <a:t> </a:t>
            </a:r>
            <a:r>
              <a:rPr lang="en-US" sz="1800" i="0" dirty="0" err="1"/>
              <a:t>sertifikat</a:t>
            </a:r>
            <a:r>
              <a:rPr lang="en-US" sz="1800" i="0" dirty="0"/>
              <a:t> (</a:t>
            </a:r>
            <a:r>
              <a:rPr lang="en-US" sz="1800" i="0" dirty="0" err="1"/>
              <a:t>server.pem</a:t>
            </a:r>
            <a:r>
              <a:rPr lang="en-US" sz="1800" i="0" dirty="0"/>
              <a:t>)</a:t>
            </a:r>
          </a:p>
          <a:p>
            <a:pPr marL="530352" lvl="1" indent="0">
              <a:buNone/>
            </a:pPr>
            <a:endParaRPr lang="en-US" sz="1800" i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B22332-DAF7-555A-58D8-FA09105A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037" y="2896237"/>
            <a:ext cx="5793049" cy="278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10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9ABA0-896C-B4C4-2C59-EB4FCAD0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4463-F8AB-8423-47E9-DF9DD996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Implementacija</a:t>
            </a:r>
            <a:r>
              <a:rPr lang="en-US" b="1" dirty="0"/>
              <a:t> RabbitMQ </a:t>
            </a:r>
            <a:r>
              <a:rPr lang="en-US" b="1" dirty="0" err="1"/>
              <a:t>servera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TLS-om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D61F-DB07-CFAB-14A1-9A454AA8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236" y="2522624"/>
            <a:ext cx="6176776" cy="3581400"/>
          </a:xfrm>
        </p:spPr>
        <p:txBody>
          <a:bodyPr>
            <a:normAutofit/>
          </a:bodyPr>
          <a:lstStyle/>
          <a:p>
            <a:pPr lvl="1"/>
            <a:r>
              <a:rPr lang="en-US" i="0" dirty="0" err="1"/>
              <a:t>Kreiranje</a:t>
            </a:r>
            <a:r>
              <a:rPr lang="en-US" i="0" dirty="0"/>
              <a:t> RabbitMQ </a:t>
            </a:r>
            <a:r>
              <a:rPr lang="en-US" i="0" dirty="0" err="1"/>
              <a:t>korisnika</a:t>
            </a:r>
            <a:endParaRPr lang="en-US" i="0" dirty="0"/>
          </a:p>
          <a:p>
            <a:pPr lvl="1"/>
            <a:r>
              <a:rPr lang="en-US" i="0" dirty="0" err="1"/>
              <a:t>Povezivanje</a:t>
            </a:r>
            <a:r>
              <a:rPr lang="en-US" i="0" dirty="0"/>
              <a:t> </a:t>
            </a:r>
            <a:r>
              <a:rPr lang="en-US" i="0" dirty="0" err="1"/>
              <a:t>na</a:t>
            </a:r>
            <a:r>
              <a:rPr lang="en-US" i="0" dirty="0"/>
              <a:t> RabbitMQ </a:t>
            </a:r>
            <a:r>
              <a:rPr lang="en-US" i="0" dirty="0" err="1"/>
              <a:t>preko</a:t>
            </a:r>
            <a:r>
              <a:rPr lang="en-US" i="0" dirty="0"/>
              <a:t> TLS-a</a:t>
            </a: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0B9FA35-9CB0-1F9A-1DD9-FAE367B84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98" y="3804933"/>
            <a:ext cx="5505451" cy="243616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5E3354-A9FB-2FCB-F278-FD69D1593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599" y="1787834"/>
            <a:ext cx="5505451" cy="15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80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80C2-0850-8856-2DE7-D9BD9442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C8A1-D02F-E620-ABF5-5FA07308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Implemetacija</a:t>
            </a:r>
            <a:r>
              <a:rPr lang="en-US" b="1" dirty="0"/>
              <a:t> </a:t>
            </a:r>
            <a:r>
              <a:rPr lang="en-US" b="1" dirty="0" err="1"/>
              <a:t>servera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4287-7C96-4AA3-DF00-10AD256E6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930400"/>
            <a:ext cx="10320714" cy="3581400"/>
          </a:xfrm>
        </p:spPr>
        <p:txBody>
          <a:bodyPr>
            <a:noAutofit/>
          </a:bodyPr>
          <a:lstStyle/>
          <a:p>
            <a:pPr marL="530352" lvl="1" indent="0">
              <a:buNone/>
            </a:pPr>
            <a:r>
              <a:rPr lang="en-US" sz="1800" b="1" i="0" dirty="0" err="1"/>
              <a:t>Ključne</a:t>
            </a:r>
            <a:r>
              <a:rPr lang="en-US" sz="1800" b="1" i="0" dirty="0"/>
              <a:t> </a:t>
            </a:r>
            <a:r>
              <a:rPr lang="en-US" sz="1800" b="1" i="0" dirty="0" err="1"/>
              <a:t>funkcionalnosti</a:t>
            </a:r>
            <a:r>
              <a:rPr lang="en-US" sz="1800" b="1" i="0" dirty="0"/>
              <a:t>:</a:t>
            </a:r>
          </a:p>
          <a:p>
            <a:pPr marL="530352" lvl="1" indent="0">
              <a:buNone/>
            </a:pPr>
            <a:endParaRPr lang="en-US" sz="1400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FastAPI</a:t>
            </a:r>
            <a:r>
              <a:rPr lang="en-US" sz="1800" b="1" i="0" dirty="0"/>
              <a:t> </a:t>
            </a:r>
            <a:r>
              <a:rPr lang="en-US" sz="1800" b="1" i="0" dirty="0" err="1"/>
              <a:t>aplikacija</a:t>
            </a:r>
            <a:r>
              <a:rPr lang="en-US" sz="1800" b="1" i="0" dirty="0"/>
              <a:t> </a:t>
            </a:r>
            <a:r>
              <a:rPr lang="en-US" sz="1800" i="0" dirty="0"/>
              <a:t>- </a:t>
            </a:r>
            <a:r>
              <a:rPr lang="en-US" sz="1800" i="0" dirty="0" err="1"/>
              <a:t>Omogućava</a:t>
            </a:r>
            <a:r>
              <a:rPr lang="en-US" sz="1800" i="0" dirty="0"/>
              <a:t> </a:t>
            </a:r>
            <a:r>
              <a:rPr lang="en-US" sz="1800" i="0" dirty="0" err="1"/>
              <a:t>definisanje</a:t>
            </a:r>
            <a:r>
              <a:rPr lang="en-US" sz="1800" i="0" dirty="0"/>
              <a:t> REST API endpoint-a za </a:t>
            </a:r>
            <a:r>
              <a:rPr lang="en-US" sz="1800" i="0" dirty="0" err="1"/>
              <a:t>komunikaciju</a:t>
            </a:r>
            <a:r>
              <a:rPr lang="en-US" sz="1800" i="0" dirty="0"/>
              <a:t> </a:t>
            </a:r>
            <a:r>
              <a:rPr lang="en-US" sz="1800" i="0" dirty="0" err="1"/>
              <a:t>sa</a:t>
            </a:r>
            <a:r>
              <a:rPr lang="en-US" sz="1800" i="0" dirty="0"/>
              <a:t> </a:t>
            </a:r>
            <a:r>
              <a:rPr lang="en-US" sz="1800" i="0" dirty="0" err="1"/>
              <a:t>klijentima</a:t>
            </a:r>
            <a:r>
              <a:rPr lang="en-US" sz="1800" i="0" dirty="0"/>
              <a:t> </a:t>
            </a:r>
            <a:br>
              <a:rPr lang="en-US" sz="1800" i="0" dirty="0"/>
            </a:br>
            <a:endParaRPr lang="en-US" sz="1800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Čuvanje</a:t>
            </a:r>
            <a:r>
              <a:rPr lang="en-US" sz="1800" b="1" i="0" dirty="0"/>
              <a:t> </a:t>
            </a:r>
            <a:r>
              <a:rPr lang="en-US" sz="1800" b="1" i="0" dirty="0" err="1"/>
              <a:t>korisničkih</a:t>
            </a:r>
            <a:r>
              <a:rPr lang="en-US" sz="1800" b="1" i="0" dirty="0"/>
              <a:t> </a:t>
            </a:r>
            <a:r>
              <a:rPr lang="en-US" sz="1800" b="1" i="0" dirty="0" err="1"/>
              <a:t>podataka</a:t>
            </a:r>
            <a:r>
              <a:rPr lang="en-US" sz="1800" i="0" dirty="0"/>
              <a:t> - </a:t>
            </a:r>
            <a:r>
              <a:rPr lang="en-US" sz="1800" i="0" dirty="0" err="1"/>
              <a:t>rečnik</a:t>
            </a:r>
            <a:r>
              <a:rPr lang="en-US" sz="1800" i="0" dirty="0"/>
              <a:t> users za </a:t>
            </a:r>
            <a:r>
              <a:rPr lang="en-US" sz="1800" i="0" dirty="0" err="1"/>
              <a:t>mapiranje</a:t>
            </a:r>
            <a:r>
              <a:rPr lang="en-US" sz="1800" i="0" dirty="0"/>
              <a:t> username → </a:t>
            </a:r>
            <a:r>
              <a:rPr lang="en-US" sz="1800" i="0" dirty="0" err="1"/>
              <a:t>javni</a:t>
            </a:r>
            <a:r>
              <a:rPr lang="en-US" sz="1800" i="0" dirty="0"/>
              <a:t> </a:t>
            </a:r>
            <a:r>
              <a:rPr lang="en-US" sz="1800" i="0" dirty="0" err="1"/>
              <a:t>ključ</a:t>
            </a:r>
            <a:r>
              <a:rPr lang="en-US" sz="1800" i="0" dirty="0"/>
              <a:t>. </a:t>
            </a:r>
            <a:br>
              <a:rPr lang="en-US" sz="1800" i="0" dirty="0"/>
            </a:br>
            <a:endParaRPr lang="en-US" sz="1800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/>
              <a:t>REST API endpoint-</a:t>
            </a:r>
            <a:r>
              <a:rPr lang="en-US" sz="1800" b="1" i="0" dirty="0" err="1"/>
              <a:t>i</a:t>
            </a:r>
            <a:r>
              <a:rPr lang="en-US" sz="1800" b="1" i="0" dirty="0"/>
              <a:t> </a:t>
            </a:r>
          </a:p>
          <a:p>
            <a:pPr lvl="2"/>
            <a:r>
              <a:rPr lang="en-US" dirty="0"/>
              <a:t>POST /register</a:t>
            </a:r>
          </a:p>
          <a:p>
            <a:pPr lvl="2"/>
            <a:r>
              <a:rPr lang="en-US" dirty="0"/>
              <a:t>GET /key/{username} </a:t>
            </a:r>
          </a:p>
          <a:p>
            <a:pPr lvl="2"/>
            <a:r>
              <a:rPr lang="en-US" dirty="0"/>
              <a:t>GET /users</a:t>
            </a:r>
            <a:br>
              <a:rPr lang="en-US" dirty="0"/>
            </a:br>
            <a:endParaRPr lang="en-US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Fokus</a:t>
            </a:r>
            <a:r>
              <a:rPr lang="en-US" sz="1800" b="1" i="0" dirty="0"/>
              <a:t> </a:t>
            </a:r>
            <a:r>
              <a:rPr lang="en-US" sz="1800" b="1" i="0" dirty="0" err="1"/>
              <a:t>na</a:t>
            </a:r>
            <a:r>
              <a:rPr lang="en-US" sz="1800" b="1" i="0" dirty="0"/>
              <a:t> </a:t>
            </a:r>
            <a:r>
              <a:rPr lang="en-US" sz="1800" b="1" i="0" dirty="0" err="1"/>
              <a:t>sigurnost</a:t>
            </a:r>
            <a:r>
              <a:rPr lang="en-US" sz="1800" b="1" i="0" dirty="0"/>
              <a:t> </a:t>
            </a:r>
            <a:r>
              <a:rPr lang="en-US" sz="1800" i="0" dirty="0"/>
              <a:t>- Server ne </a:t>
            </a:r>
            <a:r>
              <a:rPr lang="en-US" sz="1800" i="0" dirty="0" err="1"/>
              <a:t>obrađuje</a:t>
            </a:r>
            <a:r>
              <a:rPr lang="en-US" sz="1800" i="0" dirty="0"/>
              <a:t> </a:t>
            </a:r>
            <a:r>
              <a:rPr lang="en-US" sz="1800" i="0" dirty="0" err="1"/>
              <a:t>poruke</a:t>
            </a:r>
            <a:r>
              <a:rPr lang="en-US" sz="1800" i="0" dirty="0"/>
              <a:t>, </a:t>
            </a:r>
            <a:r>
              <a:rPr lang="en-US" sz="1800" i="0" dirty="0" err="1"/>
              <a:t>već</a:t>
            </a:r>
            <a:r>
              <a:rPr lang="en-US" sz="1800" i="0" dirty="0"/>
              <a:t> </a:t>
            </a:r>
            <a:r>
              <a:rPr lang="en-US" sz="1800" i="0" dirty="0" err="1"/>
              <a:t>isključivo</a:t>
            </a:r>
            <a:r>
              <a:rPr lang="en-US" sz="1800" i="0" dirty="0"/>
              <a:t> </a:t>
            </a:r>
            <a:r>
              <a:rPr lang="en-US" sz="1800" i="0" dirty="0" err="1"/>
              <a:t>upravlja</a:t>
            </a:r>
            <a:r>
              <a:rPr lang="en-US" sz="1800" i="0" dirty="0"/>
              <a:t> </a:t>
            </a:r>
            <a:r>
              <a:rPr lang="en-US" sz="1800" i="0" dirty="0" err="1"/>
              <a:t>registracijom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distribucijom</a:t>
            </a:r>
            <a:r>
              <a:rPr lang="en-US" sz="1800" i="0" dirty="0"/>
              <a:t> </a:t>
            </a:r>
            <a:r>
              <a:rPr lang="en-US" sz="1800" i="0" dirty="0" err="1"/>
              <a:t>javnih</a:t>
            </a:r>
            <a:r>
              <a:rPr lang="en-US" sz="1800" i="0" dirty="0"/>
              <a:t> </a:t>
            </a:r>
            <a:r>
              <a:rPr lang="en-US" sz="1800" i="0" dirty="0" err="1"/>
              <a:t>ključeva</a:t>
            </a:r>
            <a:r>
              <a:rPr lang="en-US" sz="1800" i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287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D2AD-660F-4697-FF71-EBB264E8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BD9D-3DB3-6326-3832-2BCD71D6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Implemetacija</a:t>
            </a:r>
            <a:r>
              <a:rPr lang="en-US" b="1" dirty="0"/>
              <a:t> </a:t>
            </a:r>
            <a:r>
              <a:rPr lang="en-US" b="1" dirty="0" err="1"/>
              <a:t>klijentske</a:t>
            </a:r>
            <a:r>
              <a:rPr lang="en-US" b="1" dirty="0"/>
              <a:t> </a:t>
            </a:r>
            <a:r>
              <a:rPr lang="en-US" b="1" dirty="0" err="1"/>
              <a:t>aplikacije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5A7794-34A3-3365-9818-335D5872F3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500" y="3817034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A877C6-9558-DACF-E6F7-EF8E7934E13A}"/>
              </a:ext>
            </a:extLst>
          </p:cNvPr>
          <p:cNvSpPr txBox="1">
            <a:spLocks/>
          </p:cNvSpPr>
          <p:nvPr/>
        </p:nvSpPr>
        <p:spPr>
          <a:xfrm>
            <a:off x="1023562" y="1930400"/>
            <a:ext cx="10320714" cy="4559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en-US" sz="1800" b="1" i="0" dirty="0" err="1"/>
              <a:t>Ključne</a:t>
            </a:r>
            <a:r>
              <a:rPr lang="en-US" sz="1800" b="1" i="0" dirty="0"/>
              <a:t> </a:t>
            </a:r>
            <a:r>
              <a:rPr lang="en-US" sz="1800" b="1" i="0" dirty="0" err="1"/>
              <a:t>funkcionalnosti</a:t>
            </a:r>
            <a:r>
              <a:rPr lang="en-US" sz="1800" b="1" i="0" dirty="0"/>
              <a:t>:</a:t>
            </a:r>
          </a:p>
          <a:p>
            <a:pPr marL="530352" lvl="1" indent="0">
              <a:buFont typeface="Franklin Gothic Book" panose="020B0503020102020204" pitchFamily="34" charset="0"/>
              <a:buNone/>
            </a:pPr>
            <a:endParaRPr lang="en-US" sz="1400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Upravljanje</a:t>
            </a:r>
            <a:r>
              <a:rPr lang="en-US" sz="1800" b="1" i="0" dirty="0"/>
              <a:t> </a:t>
            </a:r>
            <a:r>
              <a:rPr lang="en-US" sz="1800" b="1" i="0" dirty="0" err="1"/>
              <a:t>ključevima</a:t>
            </a:r>
            <a:endParaRPr lang="en-US" sz="1800" b="1" i="0" dirty="0"/>
          </a:p>
          <a:p>
            <a:pPr lvl="2"/>
            <a:r>
              <a:rPr lang="en-US" sz="1600" i="0" dirty="0" err="1"/>
              <a:t>Klijent</a:t>
            </a:r>
            <a:r>
              <a:rPr lang="en-US" sz="1600" i="0" dirty="0"/>
              <a:t> </a:t>
            </a:r>
            <a:r>
              <a:rPr lang="en-US" sz="1600" i="0" dirty="0" err="1"/>
              <a:t>generiše</a:t>
            </a:r>
            <a:r>
              <a:rPr lang="en-US" sz="1600" i="0" dirty="0"/>
              <a:t> RSA par </a:t>
            </a:r>
            <a:r>
              <a:rPr lang="en-US" sz="1600" i="0" dirty="0" err="1"/>
              <a:t>ključeva</a:t>
            </a:r>
            <a:r>
              <a:rPr lang="en-US" sz="1600" i="0" dirty="0"/>
              <a:t>; </a:t>
            </a:r>
            <a:r>
              <a:rPr lang="en-US" sz="1600" i="0" dirty="0" err="1"/>
              <a:t>privatni</a:t>
            </a:r>
            <a:r>
              <a:rPr lang="en-US" sz="1600" i="0" dirty="0"/>
              <a:t> </a:t>
            </a:r>
            <a:r>
              <a:rPr lang="en-US" sz="1600" i="0" dirty="0" err="1"/>
              <a:t>ostaje</a:t>
            </a:r>
            <a:r>
              <a:rPr lang="en-US" sz="1600" i="0" dirty="0"/>
              <a:t> </a:t>
            </a:r>
            <a:r>
              <a:rPr lang="en-US" sz="1600" i="0" dirty="0" err="1"/>
              <a:t>lokalno</a:t>
            </a:r>
            <a:r>
              <a:rPr lang="en-US" sz="1600" i="0" dirty="0"/>
              <a:t>, </a:t>
            </a:r>
            <a:r>
              <a:rPr lang="en-US" sz="1600" i="0" dirty="0" err="1"/>
              <a:t>javni</a:t>
            </a:r>
            <a:r>
              <a:rPr lang="en-US" sz="1600" i="0" dirty="0"/>
              <a:t> se </a:t>
            </a:r>
            <a:r>
              <a:rPr lang="en-US" sz="1600" i="0" dirty="0" err="1"/>
              <a:t>šalje</a:t>
            </a:r>
            <a:r>
              <a:rPr lang="en-US" sz="1600" i="0" dirty="0"/>
              <a:t> </a:t>
            </a:r>
            <a:r>
              <a:rPr lang="en-US" sz="1600" i="0" dirty="0" err="1"/>
              <a:t>serveru</a:t>
            </a:r>
            <a:r>
              <a:rPr lang="en-US" sz="1600" i="0" dirty="0"/>
              <a:t>. </a:t>
            </a:r>
            <a:br>
              <a:rPr lang="en-US" sz="1600" i="0" dirty="0"/>
            </a:br>
            <a:endParaRPr lang="en-US" sz="1600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Registracija</a:t>
            </a:r>
            <a:r>
              <a:rPr lang="en-US" sz="1800" b="1" i="0" dirty="0"/>
              <a:t> </a:t>
            </a:r>
            <a:r>
              <a:rPr lang="en-US" sz="1800" b="1" i="0" dirty="0" err="1"/>
              <a:t>i</a:t>
            </a:r>
            <a:r>
              <a:rPr lang="en-US" sz="1800" b="1" i="0" dirty="0"/>
              <a:t> </a:t>
            </a:r>
            <a:r>
              <a:rPr lang="en-US" sz="1800" b="1" i="0" dirty="0" err="1"/>
              <a:t>autentifikacija</a:t>
            </a:r>
            <a:r>
              <a:rPr lang="en-US" sz="1800" i="0" dirty="0"/>
              <a:t> </a:t>
            </a:r>
          </a:p>
          <a:p>
            <a:pPr lvl="2"/>
            <a:r>
              <a:rPr lang="en-US" sz="1600" i="0" dirty="0" err="1"/>
              <a:t>Komunikacija</a:t>
            </a:r>
            <a:r>
              <a:rPr lang="en-US" sz="1600" i="0" dirty="0"/>
              <a:t> </a:t>
            </a:r>
            <a:r>
              <a:rPr lang="en-US" sz="1600" i="0" dirty="0" err="1"/>
              <a:t>sa</a:t>
            </a:r>
            <a:r>
              <a:rPr lang="en-US" sz="1600" i="0" dirty="0"/>
              <a:t> </a:t>
            </a:r>
            <a:r>
              <a:rPr lang="en-US" sz="1600" i="0" dirty="0" err="1"/>
              <a:t>serverom</a:t>
            </a:r>
            <a:r>
              <a:rPr lang="en-US" sz="1600" i="0" dirty="0"/>
              <a:t> </a:t>
            </a:r>
            <a:r>
              <a:rPr lang="en-US" sz="1600" i="0" dirty="0" err="1"/>
              <a:t>preko</a:t>
            </a:r>
            <a:r>
              <a:rPr lang="en-US" sz="1600" i="0" dirty="0"/>
              <a:t> REST API-ja.</a:t>
            </a:r>
          </a:p>
          <a:p>
            <a:pPr lvl="2"/>
            <a:r>
              <a:rPr lang="en-US" sz="1600" dirty="0" err="1"/>
              <a:t>Lozinka</a:t>
            </a:r>
            <a:r>
              <a:rPr lang="en-US" sz="1600" dirty="0"/>
              <a:t> se </a:t>
            </a:r>
            <a:r>
              <a:rPr lang="en-US" sz="1600" dirty="0" err="1"/>
              <a:t>lokalno</a:t>
            </a:r>
            <a:r>
              <a:rPr lang="en-US" sz="1600" dirty="0"/>
              <a:t> </a:t>
            </a:r>
            <a:r>
              <a:rPr lang="en-US" sz="1600" dirty="0" err="1"/>
              <a:t>hešira</a:t>
            </a:r>
            <a:r>
              <a:rPr lang="en-US" sz="1600" dirty="0"/>
              <a:t> (SHA-256); server </a:t>
            </a:r>
            <a:r>
              <a:rPr lang="en-US" sz="1600" dirty="0" err="1"/>
              <a:t>čuva</a:t>
            </a:r>
            <a:r>
              <a:rPr lang="en-US" sz="1600" dirty="0"/>
              <a:t> </a:t>
            </a:r>
            <a:r>
              <a:rPr lang="en-US" sz="1600" dirty="0" err="1"/>
              <a:t>samo</a:t>
            </a:r>
            <a:r>
              <a:rPr lang="en-US" sz="1600" dirty="0"/>
              <a:t> </a:t>
            </a:r>
            <a:r>
              <a:rPr lang="en-US" sz="1600" dirty="0" err="1"/>
              <a:t>javne</a:t>
            </a:r>
            <a:r>
              <a:rPr lang="en-US" sz="1600" dirty="0"/>
              <a:t> </a:t>
            </a:r>
            <a:r>
              <a:rPr lang="en-US" sz="1600" dirty="0" err="1"/>
              <a:t>ključeve</a:t>
            </a:r>
            <a:r>
              <a:rPr lang="en-US" sz="1600" dirty="0"/>
              <a:t>.</a:t>
            </a:r>
            <a:br>
              <a:rPr lang="en-US" sz="1600" i="0" dirty="0"/>
            </a:br>
            <a:endParaRPr lang="en-US" sz="1600" i="0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Sigurna</a:t>
            </a:r>
            <a:r>
              <a:rPr lang="en-US" sz="1800" b="1" i="0" dirty="0"/>
              <a:t> </a:t>
            </a:r>
            <a:r>
              <a:rPr lang="en-US" sz="1800" b="1" i="0" dirty="0" err="1"/>
              <a:t>komunikacija</a:t>
            </a:r>
            <a:r>
              <a:rPr lang="en-US" sz="1800" b="1" i="0" dirty="0"/>
              <a:t> (RabbitMQ)</a:t>
            </a:r>
            <a:r>
              <a:rPr lang="en-US" dirty="0"/>
              <a:t> </a:t>
            </a:r>
          </a:p>
          <a:p>
            <a:pPr lvl="2"/>
            <a:r>
              <a:rPr lang="en-US" sz="1600" dirty="0"/>
              <a:t>TLS </a:t>
            </a:r>
            <a:r>
              <a:rPr lang="en-US" sz="1600" dirty="0" err="1"/>
              <a:t>konekcija</a:t>
            </a:r>
            <a:r>
              <a:rPr lang="en-US" sz="1600" dirty="0"/>
              <a:t> </a:t>
            </a:r>
            <a:r>
              <a:rPr lang="en-US" sz="1600" dirty="0" err="1"/>
              <a:t>uz</a:t>
            </a:r>
            <a:r>
              <a:rPr lang="en-US" sz="1600" dirty="0"/>
              <a:t> CA </a:t>
            </a:r>
            <a:r>
              <a:rPr lang="en-US" sz="1600" dirty="0" err="1"/>
              <a:t>sertifikat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namenski</a:t>
            </a:r>
            <a:r>
              <a:rPr lang="en-US" sz="1600" dirty="0"/>
              <a:t> </a:t>
            </a:r>
            <a:r>
              <a:rPr lang="en-US" sz="1600" dirty="0" err="1"/>
              <a:t>korisni</a:t>
            </a:r>
            <a:r>
              <a:rPr lang="en-US" sz="1600" dirty="0"/>
              <a:t>.</a:t>
            </a:r>
          </a:p>
          <a:p>
            <a:pPr lvl="2"/>
            <a:r>
              <a:rPr lang="en-US" sz="1600" dirty="0" err="1"/>
              <a:t>Svaki</a:t>
            </a:r>
            <a:r>
              <a:rPr lang="en-US" sz="1600" dirty="0"/>
              <a:t> </a:t>
            </a:r>
            <a:r>
              <a:rPr lang="en-US" sz="1600" dirty="0" err="1"/>
              <a:t>korisnik</a:t>
            </a:r>
            <a:r>
              <a:rPr lang="en-US" sz="1600" dirty="0"/>
              <a:t> </a:t>
            </a:r>
            <a:r>
              <a:rPr lang="en-US" sz="1600" dirty="0" err="1"/>
              <a:t>ima</a:t>
            </a:r>
            <a:r>
              <a:rPr lang="en-US" sz="1600" dirty="0"/>
              <a:t> </a:t>
            </a:r>
            <a:r>
              <a:rPr lang="en-US" sz="1600" dirty="0" err="1"/>
              <a:t>sopstveni</a:t>
            </a:r>
            <a:r>
              <a:rPr lang="en-US" sz="1600" dirty="0"/>
              <a:t>.</a:t>
            </a:r>
            <a:br>
              <a:rPr lang="en-US" dirty="0"/>
            </a:br>
            <a:endParaRPr lang="en-US" dirty="0"/>
          </a:p>
          <a:p>
            <a:pPr marL="873252" lvl="1" indent="-342900">
              <a:buFont typeface="+mj-lt"/>
              <a:buAutoNum type="arabicPeriod"/>
            </a:pPr>
            <a:r>
              <a:rPr lang="en-US" sz="1800" b="1" i="0" dirty="0" err="1"/>
              <a:t>Slanje</a:t>
            </a:r>
            <a:r>
              <a:rPr lang="en-US" sz="1800" b="1" i="0" dirty="0"/>
              <a:t> </a:t>
            </a:r>
            <a:r>
              <a:rPr lang="en-US" sz="1800" b="1" i="0" dirty="0" err="1"/>
              <a:t>poruka</a:t>
            </a:r>
            <a:endParaRPr lang="en-US" sz="1800" b="1" i="0" dirty="0"/>
          </a:p>
          <a:p>
            <a:pPr lvl="2"/>
            <a:r>
              <a:rPr lang="en-US" sz="1600" dirty="0"/>
              <a:t>Sign-then-encrypt: </a:t>
            </a:r>
            <a:r>
              <a:rPr lang="en-US" sz="1600" dirty="0" err="1"/>
              <a:t>poruka</a:t>
            </a:r>
            <a:r>
              <a:rPr lang="en-US" sz="1600" dirty="0"/>
              <a:t> se </a:t>
            </a:r>
            <a:r>
              <a:rPr lang="en-US" sz="1600" dirty="0" err="1"/>
              <a:t>potpisuje</a:t>
            </a:r>
            <a:r>
              <a:rPr lang="en-US" sz="1600" dirty="0"/>
              <a:t> </a:t>
            </a:r>
            <a:r>
              <a:rPr lang="en-US" sz="1600" dirty="0" err="1"/>
              <a:t>privatnim</a:t>
            </a:r>
            <a:r>
              <a:rPr lang="en-US" sz="1600" dirty="0"/>
              <a:t>, </a:t>
            </a:r>
            <a:r>
              <a:rPr lang="en-US" sz="1600" dirty="0" err="1"/>
              <a:t>zatim</a:t>
            </a:r>
            <a:r>
              <a:rPr lang="en-US" sz="1600" dirty="0"/>
              <a:t> </a:t>
            </a:r>
            <a:r>
              <a:rPr lang="en-US" sz="1600" dirty="0" err="1"/>
              <a:t>šifruje</a:t>
            </a:r>
            <a:r>
              <a:rPr lang="en-US" sz="1600" dirty="0"/>
              <a:t> </a:t>
            </a:r>
            <a:r>
              <a:rPr lang="en-US" sz="1600" dirty="0" err="1"/>
              <a:t>javnim</a:t>
            </a:r>
            <a:r>
              <a:rPr lang="en-US" sz="1600" dirty="0"/>
              <a:t> </a:t>
            </a:r>
            <a:r>
              <a:rPr lang="en-US" sz="1600" dirty="0" err="1"/>
              <a:t>ključem</a:t>
            </a:r>
            <a:r>
              <a:rPr lang="en-US" sz="1600" dirty="0"/>
              <a:t> </a:t>
            </a:r>
            <a:r>
              <a:rPr lang="en-US" sz="1600" dirty="0" err="1"/>
              <a:t>primaoca</a:t>
            </a:r>
            <a:r>
              <a:rPr lang="en-US" sz="1600" b="1" dirty="0"/>
              <a:t>.</a:t>
            </a:r>
            <a:endParaRPr lang="en-US" sz="1600" b="1" i="0" dirty="0"/>
          </a:p>
          <a:p>
            <a:pPr lvl="2"/>
            <a:endParaRPr lang="en-US" sz="1600" i="0" dirty="0"/>
          </a:p>
        </p:txBody>
      </p:sp>
    </p:spTree>
    <p:extLst>
      <p:ext uri="{BB962C8B-B14F-4D97-AF65-F5344CB8AC3E}">
        <p14:creationId xmlns:p14="http://schemas.microsoft.com/office/powerpoint/2010/main" val="87935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3357-2EA7-0D44-835F-0F40CF01F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6433AC8-8A78-46AB-B013-07DC9D752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399CF-1AF7-F255-E35B-F621F8D0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291" y="634028"/>
            <a:ext cx="6221689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1" cap="all"/>
              <a:t>DEMO</a:t>
            </a:r>
            <a:endParaRPr lang="en-US" sz="7200" cap="all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37E10E69-B2A5-4F8D-A7C0-F958BB7B4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542142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2E4B17F2-7877-4CC5-B6F6-F4147FE7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" name="Graphic 5" descr="Play">
            <a:extLst>
              <a:ext uri="{FF2B5EF4-FFF2-40B4-BE49-F238E27FC236}">
                <a16:creationId xmlns:a16="http://schemas.microsoft.com/office/drawing/2014/main" id="{87AC5F2A-0524-592F-B527-7C459BE05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403" y="2169078"/>
            <a:ext cx="2719859" cy="271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85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3195-39F9-0CA2-F858-594D96E9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28D8-0505-1AA1-AADF-71E0FA24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3D0AE-AD87-2A13-7C9F-5337214C9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10165138" cy="3581400"/>
          </a:xfrm>
        </p:spPr>
        <p:txBody>
          <a:bodyPr>
            <a:normAutofit/>
          </a:bodyPr>
          <a:lstStyle/>
          <a:p>
            <a:pPr lvl="1"/>
            <a:r>
              <a:rPr lang="en-US" sz="1800" i="0" dirty="0" err="1"/>
              <a:t>Implementirana</a:t>
            </a:r>
            <a:r>
              <a:rPr lang="en-US" sz="1800" i="0" dirty="0"/>
              <a:t> je </a:t>
            </a:r>
            <a:r>
              <a:rPr lang="en-US" sz="1800" i="0" dirty="0" err="1"/>
              <a:t>bezbedna</a:t>
            </a:r>
            <a:r>
              <a:rPr lang="en-US" sz="1800" i="0" dirty="0"/>
              <a:t> </a:t>
            </a:r>
            <a:r>
              <a:rPr lang="en-US" sz="1800" i="0" dirty="0" err="1"/>
              <a:t>aplikacija</a:t>
            </a:r>
            <a:r>
              <a:rPr lang="en-US" sz="1800" i="0" dirty="0"/>
              <a:t> za </a:t>
            </a:r>
            <a:r>
              <a:rPr lang="en-US" sz="1800" i="0" dirty="0" err="1"/>
              <a:t>razmenu</a:t>
            </a:r>
            <a:r>
              <a:rPr lang="en-US" sz="1800" i="0" dirty="0"/>
              <a:t> </a:t>
            </a:r>
            <a:r>
              <a:rPr lang="en-US" sz="1800" i="0" dirty="0" err="1"/>
              <a:t>poruka</a:t>
            </a:r>
            <a:r>
              <a:rPr lang="en-US" sz="1800" i="0" dirty="0"/>
              <a:t> </a:t>
            </a:r>
            <a:r>
              <a:rPr lang="en-US" sz="1800" i="0" dirty="0" err="1"/>
              <a:t>uz</a:t>
            </a:r>
            <a:r>
              <a:rPr lang="en-US" sz="1800" i="0" dirty="0"/>
              <a:t> TLS, RSA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digitalne</a:t>
            </a:r>
            <a:r>
              <a:rPr lang="en-US" sz="1800" i="0" dirty="0"/>
              <a:t> </a:t>
            </a:r>
            <a:r>
              <a:rPr lang="en-US" sz="1800" i="0" dirty="0" err="1"/>
              <a:t>potpise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lvl="1"/>
            <a:r>
              <a:rPr lang="en-US" sz="1800" i="0" dirty="0" err="1"/>
              <a:t>Kriptografska</a:t>
            </a:r>
            <a:r>
              <a:rPr lang="en-US" sz="1800" i="0" dirty="0"/>
              <a:t> </a:t>
            </a:r>
            <a:r>
              <a:rPr lang="en-US" sz="1800" i="0" dirty="0" err="1"/>
              <a:t>obrada</a:t>
            </a:r>
            <a:r>
              <a:rPr lang="en-US" sz="1800" i="0" dirty="0"/>
              <a:t> se </a:t>
            </a:r>
            <a:r>
              <a:rPr lang="en-US" sz="1800" i="0" dirty="0" err="1"/>
              <a:t>vrši</a:t>
            </a:r>
            <a:r>
              <a:rPr lang="en-US" sz="1800" i="0" dirty="0"/>
              <a:t> </a:t>
            </a:r>
            <a:r>
              <a:rPr lang="en-US" sz="1800" i="0" dirty="0" err="1"/>
              <a:t>na</a:t>
            </a:r>
            <a:r>
              <a:rPr lang="en-US" sz="1800" i="0" dirty="0"/>
              <a:t> </a:t>
            </a:r>
            <a:r>
              <a:rPr lang="en-US" sz="1800" i="0" dirty="0" err="1"/>
              <a:t>klijentskoj</a:t>
            </a:r>
            <a:r>
              <a:rPr lang="en-US" sz="1800" i="0" dirty="0"/>
              <a:t> </a:t>
            </a:r>
            <a:r>
              <a:rPr lang="en-US" sz="1800" i="0" dirty="0" err="1"/>
              <a:t>strani</a:t>
            </a:r>
            <a:r>
              <a:rPr lang="en-US" sz="1800" i="0" dirty="0"/>
              <a:t>, bez </a:t>
            </a:r>
            <a:r>
              <a:rPr lang="en-US" sz="1800" i="0" dirty="0" err="1"/>
              <a:t>izlaganja</a:t>
            </a:r>
            <a:r>
              <a:rPr lang="en-US" sz="1800" i="0" dirty="0"/>
              <a:t> </a:t>
            </a:r>
            <a:r>
              <a:rPr lang="en-US" sz="1800" i="0" dirty="0" err="1"/>
              <a:t>privatnih</a:t>
            </a:r>
            <a:r>
              <a:rPr lang="en-US" sz="1800" i="0" dirty="0"/>
              <a:t> </a:t>
            </a:r>
            <a:r>
              <a:rPr lang="en-US" sz="1800" i="0" dirty="0" err="1"/>
              <a:t>ključeva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lvl="1"/>
            <a:r>
              <a:rPr lang="en-US" sz="1800" i="0" dirty="0"/>
              <a:t>Server </a:t>
            </a:r>
            <a:r>
              <a:rPr lang="en-US" sz="1800" i="0" dirty="0" err="1"/>
              <a:t>kao</a:t>
            </a:r>
            <a:r>
              <a:rPr lang="en-US" sz="1800" i="0" dirty="0"/>
              <a:t> </a:t>
            </a:r>
            <a:r>
              <a:rPr lang="en-US" sz="1800" i="0" dirty="0" err="1"/>
              <a:t>registar</a:t>
            </a:r>
            <a:r>
              <a:rPr lang="en-US" sz="1800" i="0" dirty="0"/>
              <a:t> </a:t>
            </a:r>
            <a:r>
              <a:rPr lang="en-US" sz="1800" i="0" dirty="0" err="1"/>
              <a:t>korisnika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javnih</a:t>
            </a:r>
            <a:r>
              <a:rPr lang="en-US" sz="1800" i="0" dirty="0"/>
              <a:t> </a:t>
            </a:r>
            <a:r>
              <a:rPr lang="en-US" sz="1800" i="0" dirty="0" err="1"/>
              <a:t>ključeva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lvl="1"/>
            <a:r>
              <a:rPr lang="en-US" sz="1800" i="0" dirty="0" err="1"/>
              <a:t>Implementirani</a:t>
            </a:r>
            <a:r>
              <a:rPr lang="en-US" sz="1800" i="0" dirty="0"/>
              <a:t> server </a:t>
            </a:r>
            <a:r>
              <a:rPr lang="en-US" sz="1800" i="0" dirty="0" err="1"/>
              <a:t>može</a:t>
            </a:r>
            <a:r>
              <a:rPr lang="en-US" sz="1800" i="0" dirty="0"/>
              <a:t> se </a:t>
            </a:r>
            <a:r>
              <a:rPr lang="en-US" sz="1800" i="0" dirty="0" err="1"/>
              <a:t>instalirati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na</a:t>
            </a:r>
            <a:r>
              <a:rPr lang="en-US" sz="1800" i="0" dirty="0"/>
              <a:t> Raspberry Pi </a:t>
            </a:r>
            <a:r>
              <a:rPr lang="en-US" sz="1800" i="0" dirty="0" err="1"/>
              <a:t>uređaj</a:t>
            </a:r>
            <a:r>
              <a:rPr lang="en-US" sz="1800" i="0" dirty="0"/>
              <a:t> - </a:t>
            </a:r>
            <a:r>
              <a:rPr lang="en-US" sz="1800" i="0" dirty="0" err="1"/>
              <a:t>niska</a:t>
            </a:r>
            <a:r>
              <a:rPr lang="en-US" sz="1800" i="0" dirty="0"/>
              <a:t> </a:t>
            </a:r>
            <a:r>
              <a:rPr lang="en-US" sz="1800" i="0" dirty="0" err="1"/>
              <a:t>cena</a:t>
            </a:r>
            <a:r>
              <a:rPr lang="en-US" sz="1800" i="0" dirty="0"/>
              <a:t>, mala </a:t>
            </a:r>
            <a:r>
              <a:rPr lang="en-US" sz="1800" i="0" dirty="0" err="1"/>
              <a:t>potrošnja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dovoljna</a:t>
            </a:r>
            <a:r>
              <a:rPr lang="en-US" sz="1800" i="0" dirty="0"/>
              <a:t> </a:t>
            </a:r>
            <a:r>
              <a:rPr lang="en-US" sz="1800" i="0" dirty="0" err="1"/>
              <a:t>snaga</a:t>
            </a:r>
            <a:endParaRPr lang="en-US" sz="1800" i="0" dirty="0"/>
          </a:p>
          <a:p>
            <a:pPr marL="530352" lvl="1" indent="0">
              <a:buNone/>
            </a:pPr>
            <a:endParaRPr lang="en-US" sz="1800" i="0" dirty="0"/>
          </a:p>
          <a:p>
            <a:pPr lvl="1"/>
            <a:r>
              <a:rPr lang="en-US" sz="1800" i="0" dirty="0" err="1"/>
              <a:t>Rešenje</a:t>
            </a:r>
            <a:r>
              <a:rPr lang="en-US" sz="1800" i="0" dirty="0"/>
              <a:t> je </a:t>
            </a:r>
            <a:r>
              <a:rPr lang="en-US" sz="1800" i="0" dirty="0" err="1"/>
              <a:t>praktično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pogodno</a:t>
            </a:r>
            <a:r>
              <a:rPr lang="en-US" sz="1800" i="0" dirty="0"/>
              <a:t> za </a:t>
            </a:r>
            <a:r>
              <a:rPr lang="en-US" sz="1800" i="0" dirty="0" err="1"/>
              <a:t>edukativnu</a:t>
            </a:r>
            <a:r>
              <a:rPr lang="en-US" sz="1800" i="0" dirty="0"/>
              <a:t> </a:t>
            </a:r>
            <a:r>
              <a:rPr lang="en-US" sz="1800" i="0" dirty="0" err="1"/>
              <a:t>i</a:t>
            </a:r>
            <a:r>
              <a:rPr lang="en-US" sz="1800" i="0" dirty="0"/>
              <a:t> </a:t>
            </a:r>
            <a:r>
              <a:rPr lang="en-US" sz="1800" i="0" dirty="0" err="1"/>
              <a:t>eksperimentalnu</a:t>
            </a:r>
            <a:r>
              <a:rPr lang="en-US" sz="1800" i="0" dirty="0"/>
              <a:t> </a:t>
            </a:r>
            <a:r>
              <a:rPr lang="en-US" sz="1800" i="0" dirty="0" err="1"/>
              <a:t>primenu</a:t>
            </a:r>
            <a:endParaRPr lang="en-US" sz="1800" i="0" dirty="0"/>
          </a:p>
          <a:p>
            <a:pPr lvl="1"/>
            <a:endParaRPr lang="en-US" sz="1800" i="0" dirty="0"/>
          </a:p>
        </p:txBody>
      </p:sp>
    </p:spTree>
    <p:extLst>
      <p:ext uri="{BB962C8B-B14F-4D97-AF65-F5344CB8AC3E}">
        <p14:creationId xmlns:p14="http://schemas.microsoft.com/office/powerpoint/2010/main" val="148137467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134</TotalTime>
  <Words>677</Words>
  <Application>Microsoft Macintosh PowerPoint</Application>
  <PresentationFormat>Widescreen</PresentationFormat>
  <Paragraphs>143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Franklin Gothic Book</vt:lpstr>
      <vt:lpstr>Crop</vt:lpstr>
      <vt:lpstr>IMPLEMENTACIJA BEZBEDNOG SISTEMA ZA RAZMENU PORUKA ZASNOVANOG NA RABBITMQ-U SA PRIMENOM TLS-A I RSA KRIPTOGRAFIJE </vt:lpstr>
      <vt:lpstr>Sadržaj</vt:lpstr>
      <vt:lpstr>Šta je računarska bezbednost?</vt:lpstr>
      <vt:lpstr>Uloga kriptografije u računarskoj bezbednosti</vt:lpstr>
      <vt:lpstr>Razvojno okruženje, programski jezik i tehnologije korišćene za izradu praktičnog dela</vt:lpstr>
      <vt:lpstr>TLS (Transport Layer Security)</vt:lpstr>
      <vt:lpstr>RSA (Rivest-Shamir-Adleman) algoritam</vt:lpstr>
      <vt:lpstr>Sign-then-Encrypt šema</vt:lpstr>
      <vt:lpstr>RabbitMQ</vt:lpstr>
      <vt:lpstr>Arhitektura sistema</vt:lpstr>
      <vt:lpstr>Implementacija RabbitMQ servera sa TLS-om</vt:lpstr>
      <vt:lpstr>Implementacija RabbitMQ servera sa TLS-om</vt:lpstr>
      <vt:lpstr>Implemetacija servera</vt:lpstr>
      <vt:lpstr>Implemetacija klijentske aplikacije</vt:lpstr>
      <vt:lpstr>DEMO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Valcic</dc:creator>
  <cp:lastModifiedBy>Andrea Valcic</cp:lastModifiedBy>
  <cp:revision>6</cp:revision>
  <dcterms:created xsi:type="dcterms:W3CDTF">2026-01-28T08:57:32Z</dcterms:created>
  <dcterms:modified xsi:type="dcterms:W3CDTF">2026-01-28T12:36:49Z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629de7-cfdf-49f2-9483-80ca02e7fb52_Enabled">
    <vt:lpwstr>true</vt:lpwstr>
  </property>
  <property fmtid="{D5CDD505-2E9C-101B-9397-08002B2CF9AE}" pid="3" name="MSIP_Label_ac629de7-cfdf-49f2-9483-80ca02e7fb52_SetDate">
    <vt:lpwstr>2026-01-28T10:22:13Z</vt:lpwstr>
  </property>
  <property fmtid="{D5CDD505-2E9C-101B-9397-08002B2CF9AE}" pid="4" name="MSIP_Label_ac629de7-cfdf-49f2-9483-80ca02e7fb52_Method">
    <vt:lpwstr>Standard</vt:lpwstr>
  </property>
  <property fmtid="{D5CDD505-2E9C-101B-9397-08002B2CF9AE}" pid="5" name="MSIP_Label_ac629de7-cfdf-49f2-9483-80ca02e7fb52_Name">
    <vt:lpwstr>HTEC Internal</vt:lpwstr>
  </property>
  <property fmtid="{D5CDD505-2E9C-101B-9397-08002B2CF9AE}" pid="6" name="MSIP_Label_ac629de7-cfdf-49f2-9483-80ca02e7fb52_SiteId">
    <vt:lpwstr>9f85665b-7efd-4776-9dfe-b6bfda2565ee</vt:lpwstr>
  </property>
  <property fmtid="{D5CDD505-2E9C-101B-9397-08002B2CF9AE}" pid="7" name="MSIP_Label_ac629de7-cfdf-49f2-9483-80ca02e7fb52_ActionId">
    <vt:lpwstr>cee629b1-8fc4-41e1-941b-0ece0b63527b</vt:lpwstr>
  </property>
  <property fmtid="{D5CDD505-2E9C-101B-9397-08002B2CF9AE}" pid="8" name="MSIP_Label_ac629de7-cfdf-49f2-9483-80ca02e7fb52_ContentBits">
    <vt:lpwstr>1</vt:lpwstr>
  </property>
  <property fmtid="{D5CDD505-2E9C-101B-9397-08002B2CF9AE}" pid="9" name="MSIP_Label_ac629de7-cfdf-49f2-9483-80ca02e7fb52_Tag">
    <vt:lpwstr>50, 3, 0, 1</vt:lpwstr>
  </property>
  <property fmtid="{D5CDD505-2E9C-101B-9397-08002B2CF9AE}" pid="10" name="ClassificationContentMarkingHeaderLocations">
    <vt:lpwstr>Crop:8</vt:lpwstr>
  </property>
  <property fmtid="{D5CDD505-2E9C-101B-9397-08002B2CF9AE}" pid="11" name="ClassificationContentMarkingHeaderText">
    <vt:lpwstr>Proprietary</vt:lpwstr>
  </property>
</Properties>
</file>